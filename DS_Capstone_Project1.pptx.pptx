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libri (MS) Bold" charset="1" panose="020F0702030404030204"/>
      <p:regular r:id="rId28"/>
    </p:embeddedFont>
    <p:embeddedFont>
      <p:font typeface="Calibri (MS)" charset="1" panose="020F0502020204030204"/>
      <p:regular r:id="rId29"/>
    </p:embeddedFont>
    <p:embeddedFont>
      <p:font typeface="Calibri (MS) Italics" charset="1" panose="020F05020202040A0204"/>
      <p:regular r:id="rId31"/>
    </p:embeddedFont>
    <p:embeddedFont>
      <p:font typeface="Alice Bold" charset="1" panose="00000500000000000000"/>
      <p:regular r:id="rId32"/>
    </p:embeddedFont>
    <p:embeddedFont>
      <p:font typeface="Alice" charset="1" panose="00000500000000000000"/>
      <p:regular r:id="rId33"/>
    </p:embeddedFont>
    <p:embeddedFont>
      <p:font typeface="Alice Italics" charset="1" panose="00000500000000000000"/>
      <p:regular r:id="rId34"/>
    </p:embeddedFont>
    <p:embeddedFont>
      <p:font typeface="Aptos" charset="1" panose="020B0004020202020204"/>
      <p:regular r:id="rId35"/>
    </p:embeddedFont>
    <p:embeddedFont>
      <p:font typeface="Aptos Italics" charset="1" panose="020B000402020209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3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63556"/>
            <a:ext cx="18283428" cy="123444"/>
            <a:chOff x="0" y="0"/>
            <a:chExt cx="24377904" cy="164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64592"/>
            </a:xfrm>
            <a:custGeom>
              <a:avLst/>
              <a:gdLst/>
              <a:ahLst/>
              <a:cxnLst/>
              <a:rect r="r" b="b" t="t" l="l"/>
              <a:pathLst>
                <a:path h="164592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5860" y="1001268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332327" y="853049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4046220"/>
            <a:ext cx="15773400" cy="548640"/>
            <a:chOff x="0" y="0"/>
            <a:chExt cx="210312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CAPSTONE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4663440"/>
            <a:ext cx="15773400" cy="1371600"/>
            <a:chOff x="0" y="0"/>
            <a:chExt cx="2103120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210312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Patient Readmission &amp; Care Intervention Platform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5966460"/>
            <a:ext cx="15773400" cy="685800"/>
            <a:chOff x="0" y="0"/>
            <a:chExt cx="210312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7A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Science Training Program  |  Capstone Project 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7063740"/>
            <a:ext cx="4114800" cy="548640"/>
            <a:chOff x="0" y="0"/>
            <a:chExt cx="54864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7A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/ Participant Name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9240" y="7063740"/>
            <a:ext cx="6858000" cy="548640"/>
            <a:chOff x="0" y="0"/>
            <a:chExt cx="91440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144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Vansh</a:t>
              </a:r>
              <a:r>
                <a:rPr lang="en-US" sz="18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, Amartya, Abhinav, Rohit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" y="7639812"/>
            <a:ext cx="4114800" cy="548640"/>
            <a:chOff x="0" y="0"/>
            <a:chExt cx="54864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7A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Batch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49240" y="7639812"/>
            <a:ext cx="6858000" cy="548640"/>
            <a:chOff x="0" y="0"/>
            <a:chExt cx="914400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4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VAAR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8215884"/>
            <a:ext cx="4114800" cy="548640"/>
            <a:chOff x="0" y="0"/>
            <a:chExt cx="5486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7A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Date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349240" y="8215884"/>
            <a:ext cx="6858000" cy="548640"/>
            <a:chOff x="0" y="0"/>
            <a:chExt cx="914400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144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 Oct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537460"/>
            <a:chOff x="0" y="0"/>
            <a:chExt cx="24377904" cy="338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383280"/>
            </a:xfrm>
            <a:custGeom>
              <a:avLst/>
              <a:gdLst/>
              <a:ahLst/>
              <a:cxnLst/>
              <a:rect r="r" b="b" t="t" l="l"/>
              <a:pathLst>
                <a:path h="3383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383280"/>
                  </a:lnTo>
                  <a:lnTo>
                    <a:pt x="0" y="3383280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37460"/>
            <a:ext cx="18283428" cy="96012"/>
            <a:chOff x="0" y="0"/>
            <a:chExt cx="24377904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2084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75227" y="523865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09060" y="576072"/>
            <a:ext cx="11874627" cy="411480"/>
            <a:chOff x="0" y="0"/>
            <a:chExt cx="1583283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32837" cy="548640"/>
            </a:xfrm>
            <a:custGeom>
              <a:avLst/>
              <a:gdLst/>
              <a:ahLst/>
              <a:cxnLst/>
              <a:rect r="r" b="b" t="t" l="l"/>
              <a:pathLst>
                <a:path h="548640" w="15832837">
                  <a:moveTo>
                    <a:pt x="0" y="0"/>
                  </a:moveTo>
                  <a:lnTo>
                    <a:pt x="15832837" y="0"/>
                  </a:lnTo>
                  <a:lnTo>
                    <a:pt x="1583283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2305" r="0" b="-512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8328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09060" y="952500"/>
            <a:ext cx="11874627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Problem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911828" y="1961388"/>
            <a:ext cx="822960" cy="480060"/>
            <a:chOff x="0" y="0"/>
            <a:chExt cx="10972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291840"/>
            <a:ext cx="16363188" cy="3154680"/>
            <a:chOff x="0" y="0"/>
            <a:chExt cx="21817584" cy="4206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817585" cy="4206240"/>
            </a:xfrm>
            <a:custGeom>
              <a:avLst/>
              <a:gdLst/>
              <a:ahLst/>
              <a:cxnLst/>
              <a:rect r="r" b="b" t="t" l="l"/>
              <a:pathLst>
                <a:path h="4206240" w="21817585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21721953" y="0"/>
                  </a:lnTo>
                  <a:cubicBezTo>
                    <a:pt x="21774786" y="0"/>
                    <a:pt x="21817585" y="42799"/>
                    <a:pt x="21817585" y="95631"/>
                  </a:cubicBezTo>
                  <a:lnTo>
                    <a:pt x="21817585" y="4110609"/>
                  </a:lnTo>
                  <a:cubicBezTo>
                    <a:pt x="21817585" y="4163441"/>
                    <a:pt x="21774786" y="4206240"/>
                    <a:pt x="21721953" y="4206240"/>
                  </a:cubicBezTo>
                  <a:lnTo>
                    <a:pt x="95631" y="4206240"/>
                  </a:lnTo>
                  <a:cubicBezTo>
                    <a:pt x="42799" y="4206240"/>
                    <a:pt x="0" y="4163441"/>
                    <a:pt x="0" y="4110609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3291840"/>
            <a:ext cx="5999998" cy="613410"/>
            <a:chOff x="0" y="0"/>
            <a:chExt cx="7999997" cy="817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00000" cy="817880"/>
            </a:xfrm>
            <a:custGeom>
              <a:avLst/>
              <a:gdLst/>
              <a:ahLst/>
              <a:cxnLst/>
              <a:rect r="r" b="b" t="t" l="l"/>
              <a:pathLst>
                <a:path h="817880" w="8000000">
                  <a:moveTo>
                    <a:pt x="0" y="0"/>
                  </a:moveTo>
                  <a:lnTo>
                    <a:pt x="8000000" y="0"/>
                  </a:lnTo>
                  <a:lnTo>
                    <a:pt x="800000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640" r="0" b="-1185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999997" cy="865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PROBLEM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08760" y="3838575"/>
            <a:ext cx="15403068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i="true">
                <a:solidFill>
                  <a:srgbClr val="5A463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Avoidable 30-day readmissions are a persistent drain on hospital leadership, care teams and patients. 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i="true">
                <a:solidFill>
                  <a:srgbClr val="5A463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About 1 in 6 admissions ends in a return within 30 days. Half of them happen in the first 7 days after discharge. 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i="true">
                <a:solidFill>
                  <a:srgbClr val="5A463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Chronic conditions hit hardest contributing to readmissions.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9C7A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Build an end-to-end analytics platform that predicts readmission risk, explains the causes, segments patients, reads discharge notes, recommends outreach, and gives leaders one trustworthy dashboard.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6669405"/>
            <a:ext cx="16363188" cy="2606040"/>
            <a:chOff x="0" y="0"/>
            <a:chExt cx="21817584" cy="3474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817583" cy="3474720"/>
            </a:xfrm>
            <a:custGeom>
              <a:avLst/>
              <a:gdLst/>
              <a:ahLst/>
              <a:cxnLst/>
              <a:rect r="r" b="b" t="t" l="l"/>
              <a:pathLst>
                <a:path h="3474720" w="21817583">
                  <a:moveTo>
                    <a:pt x="0" y="78994"/>
                  </a:moveTo>
                  <a:cubicBezTo>
                    <a:pt x="0" y="35306"/>
                    <a:pt x="35306" y="0"/>
                    <a:pt x="78994" y="0"/>
                  </a:cubicBezTo>
                  <a:lnTo>
                    <a:pt x="21738589" y="0"/>
                  </a:lnTo>
                  <a:cubicBezTo>
                    <a:pt x="21782151" y="0"/>
                    <a:pt x="21817583" y="35306"/>
                    <a:pt x="21817583" y="78994"/>
                  </a:cubicBezTo>
                  <a:lnTo>
                    <a:pt x="21817583" y="3395726"/>
                  </a:lnTo>
                  <a:cubicBezTo>
                    <a:pt x="21817583" y="3439287"/>
                    <a:pt x="21782278" y="3474720"/>
                    <a:pt x="21738589" y="3474720"/>
                  </a:cubicBezTo>
                  <a:lnTo>
                    <a:pt x="78994" y="3474720"/>
                  </a:lnTo>
                  <a:cubicBezTo>
                    <a:pt x="35433" y="3474720"/>
                    <a:pt x="0" y="3439414"/>
                    <a:pt x="0" y="3395726"/>
                  </a:cubicBez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08760" y="6995160"/>
            <a:ext cx="9000001" cy="342900"/>
            <a:chOff x="0" y="0"/>
            <a:chExt cx="12000001" cy="457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000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000000">
                  <a:moveTo>
                    <a:pt x="0" y="0"/>
                  </a:moveTo>
                  <a:lnTo>
                    <a:pt x="12000000" y="0"/>
                  </a:lnTo>
                  <a:lnTo>
                    <a:pt x="12000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1418" r="0" b="-46141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2000001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LEADERSHIP QUESTION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08760" y="7486650"/>
            <a:ext cx="1526590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If Kaiser Permanente invests in patient outreach programs, which patient groups should be targeted first and what interventions are most likely to reduce readmissions?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7" t="-3091" r="-1273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4" t="0" r="-664" b="-132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537460"/>
            <a:chOff x="0" y="0"/>
            <a:chExt cx="24377904" cy="338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383280"/>
            </a:xfrm>
            <a:custGeom>
              <a:avLst/>
              <a:gdLst/>
              <a:ahLst/>
              <a:cxnLst/>
              <a:rect r="r" b="b" t="t" l="l"/>
              <a:pathLst>
                <a:path h="3383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383280"/>
                  </a:lnTo>
                  <a:lnTo>
                    <a:pt x="0" y="3383280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37460"/>
            <a:ext cx="18283428" cy="96012"/>
            <a:chOff x="0" y="0"/>
            <a:chExt cx="24377904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2084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75227" y="523865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09060" y="576072"/>
            <a:ext cx="11874627" cy="411480"/>
            <a:chOff x="0" y="0"/>
            <a:chExt cx="1583283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32837" cy="548640"/>
            </a:xfrm>
            <a:custGeom>
              <a:avLst/>
              <a:gdLst/>
              <a:ahLst/>
              <a:cxnLst/>
              <a:rect r="r" b="b" t="t" l="l"/>
              <a:pathLst>
                <a:path h="548640" w="15832837">
                  <a:moveTo>
                    <a:pt x="0" y="0"/>
                  </a:moveTo>
                  <a:lnTo>
                    <a:pt x="15832837" y="0"/>
                  </a:lnTo>
                  <a:lnTo>
                    <a:pt x="1583283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2305" r="0" b="-512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8328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04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09060" y="952500"/>
            <a:ext cx="11874627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Statistical Insights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911828" y="1961388"/>
            <a:ext cx="822960" cy="480060"/>
            <a:chOff x="0" y="0"/>
            <a:chExt cx="10972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909060" y="1673352"/>
            <a:ext cx="12207240" cy="617220"/>
            <a:chOff x="0" y="0"/>
            <a:chExt cx="1627632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2763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370" r="0" b="-3353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276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A463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Right-skewed cost and stay length point to a subset of high-cost admissions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" y="2880360"/>
            <a:ext cx="3833622" cy="1645920"/>
            <a:chOff x="0" y="0"/>
            <a:chExt cx="5111496" cy="2194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11496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11496">
                  <a:moveTo>
                    <a:pt x="0" y="87757"/>
                  </a:moveTo>
                  <a:cubicBezTo>
                    <a:pt x="0" y="39243"/>
                    <a:pt x="39243" y="0"/>
                    <a:pt x="87757" y="0"/>
                  </a:cubicBezTo>
                  <a:lnTo>
                    <a:pt x="5023739" y="0"/>
                  </a:lnTo>
                  <a:cubicBezTo>
                    <a:pt x="5072253" y="0"/>
                    <a:pt x="5111496" y="39243"/>
                    <a:pt x="5111496" y="87757"/>
                  </a:cubicBezTo>
                  <a:lnTo>
                    <a:pt x="5111496" y="2106803"/>
                  </a:lnTo>
                  <a:cubicBezTo>
                    <a:pt x="5111496" y="2155317"/>
                    <a:pt x="5072253" y="2194560"/>
                    <a:pt x="5023739" y="2194560"/>
                  </a:cubicBezTo>
                  <a:lnTo>
                    <a:pt x="87757" y="2194560"/>
                  </a:lnTo>
                  <a:cubicBezTo>
                    <a:pt x="39243" y="2194560"/>
                    <a:pt x="0" y="2155317"/>
                    <a:pt x="0" y="2106803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4440" y="2976372"/>
            <a:ext cx="3284982" cy="685800"/>
            <a:chOff x="0" y="0"/>
            <a:chExt cx="4379976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79976" cy="914400"/>
            </a:xfrm>
            <a:custGeom>
              <a:avLst/>
              <a:gdLst/>
              <a:ahLst/>
              <a:cxnLst/>
              <a:rect r="r" b="b" t="t" l="l"/>
              <a:pathLst>
                <a:path h="914400" w="4379976">
                  <a:moveTo>
                    <a:pt x="0" y="0"/>
                  </a:moveTo>
                  <a:lnTo>
                    <a:pt x="4379976" y="0"/>
                  </a:lnTo>
                  <a:lnTo>
                    <a:pt x="43799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333" r="0" b="-4333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4379976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36642" y="2880360"/>
            <a:ext cx="3833622" cy="1645920"/>
            <a:chOff x="0" y="0"/>
            <a:chExt cx="5111496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11496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11496">
                  <a:moveTo>
                    <a:pt x="0" y="87757"/>
                  </a:moveTo>
                  <a:cubicBezTo>
                    <a:pt x="0" y="39243"/>
                    <a:pt x="39243" y="0"/>
                    <a:pt x="87757" y="0"/>
                  </a:cubicBezTo>
                  <a:lnTo>
                    <a:pt x="5023739" y="0"/>
                  </a:lnTo>
                  <a:cubicBezTo>
                    <a:pt x="5072253" y="0"/>
                    <a:pt x="5111496" y="39243"/>
                    <a:pt x="5111496" y="87757"/>
                  </a:cubicBezTo>
                  <a:lnTo>
                    <a:pt x="5111496" y="2106803"/>
                  </a:lnTo>
                  <a:cubicBezTo>
                    <a:pt x="5111496" y="2155317"/>
                    <a:pt x="5072253" y="2194560"/>
                    <a:pt x="5023739" y="2194560"/>
                  </a:cubicBezTo>
                  <a:lnTo>
                    <a:pt x="87757" y="2194560"/>
                  </a:lnTo>
                  <a:cubicBezTo>
                    <a:pt x="39243" y="2194560"/>
                    <a:pt x="0" y="2155317"/>
                    <a:pt x="0" y="2106803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10962" y="2976372"/>
            <a:ext cx="3284982" cy="685800"/>
            <a:chOff x="0" y="0"/>
            <a:chExt cx="4379976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79976" cy="914400"/>
            </a:xfrm>
            <a:custGeom>
              <a:avLst/>
              <a:gdLst/>
              <a:ahLst/>
              <a:cxnLst/>
              <a:rect r="r" b="b" t="t" l="l"/>
              <a:pathLst>
                <a:path h="914400" w="4379976">
                  <a:moveTo>
                    <a:pt x="0" y="0"/>
                  </a:moveTo>
                  <a:lnTo>
                    <a:pt x="4379976" y="0"/>
                  </a:lnTo>
                  <a:lnTo>
                    <a:pt x="43799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333" r="0" b="-4333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4379976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days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13164" y="2880360"/>
            <a:ext cx="3833622" cy="1645920"/>
            <a:chOff x="0" y="0"/>
            <a:chExt cx="5111496" cy="219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11496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11496">
                  <a:moveTo>
                    <a:pt x="0" y="87757"/>
                  </a:moveTo>
                  <a:cubicBezTo>
                    <a:pt x="0" y="39243"/>
                    <a:pt x="39243" y="0"/>
                    <a:pt x="87757" y="0"/>
                  </a:cubicBezTo>
                  <a:lnTo>
                    <a:pt x="5023739" y="0"/>
                  </a:lnTo>
                  <a:cubicBezTo>
                    <a:pt x="5072253" y="0"/>
                    <a:pt x="5111496" y="39243"/>
                    <a:pt x="5111496" y="87757"/>
                  </a:cubicBezTo>
                  <a:lnTo>
                    <a:pt x="5111496" y="2106803"/>
                  </a:lnTo>
                  <a:cubicBezTo>
                    <a:pt x="5111496" y="2155317"/>
                    <a:pt x="5072253" y="2194560"/>
                    <a:pt x="5023739" y="2194560"/>
                  </a:cubicBezTo>
                  <a:lnTo>
                    <a:pt x="87757" y="2194560"/>
                  </a:lnTo>
                  <a:cubicBezTo>
                    <a:pt x="39243" y="2194560"/>
                    <a:pt x="0" y="2155317"/>
                    <a:pt x="0" y="2106803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87484" y="2976372"/>
            <a:ext cx="3284982" cy="685800"/>
            <a:chOff x="0" y="0"/>
            <a:chExt cx="4379976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79976" cy="914400"/>
            </a:xfrm>
            <a:custGeom>
              <a:avLst/>
              <a:gdLst/>
              <a:ahLst/>
              <a:cxnLst/>
              <a:rect r="r" b="b" t="t" l="l"/>
              <a:pathLst>
                <a:path h="914400" w="4379976">
                  <a:moveTo>
                    <a:pt x="0" y="0"/>
                  </a:moveTo>
                  <a:lnTo>
                    <a:pt x="4379976" y="0"/>
                  </a:lnTo>
                  <a:lnTo>
                    <a:pt x="43799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333" r="0" b="-433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4379976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$13,436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89686" y="2880360"/>
            <a:ext cx="3833622" cy="1645920"/>
            <a:chOff x="0" y="0"/>
            <a:chExt cx="5111496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11496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11496">
                  <a:moveTo>
                    <a:pt x="0" y="87757"/>
                  </a:moveTo>
                  <a:cubicBezTo>
                    <a:pt x="0" y="39243"/>
                    <a:pt x="39243" y="0"/>
                    <a:pt x="87757" y="0"/>
                  </a:cubicBezTo>
                  <a:lnTo>
                    <a:pt x="5023739" y="0"/>
                  </a:lnTo>
                  <a:cubicBezTo>
                    <a:pt x="5072253" y="0"/>
                    <a:pt x="5111496" y="39243"/>
                    <a:pt x="5111496" y="87757"/>
                  </a:cubicBezTo>
                  <a:lnTo>
                    <a:pt x="5111496" y="2106803"/>
                  </a:lnTo>
                  <a:cubicBezTo>
                    <a:pt x="5111496" y="2155317"/>
                    <a:pt x="5072253" y="2194560"/>
                    <a:pt x="5023739" y="2194560"/>
                  </a:cubicBezTo>
                  <a:lnTo>
                    <a:pt x="87757" y="2194560"/>
                  </a:lnTo>
                  <a:cubicBezTo>
                    <a:pt x="39243" y="2194560"/>
                    <a:pt x="0" y="2155317"/>
                    <a:pt x="0" y="2106803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764006" y="2976372"/>
            <a:ext cx="3284982" cy="685800"/>
            <a:chOff x="0" y="0"/>
            <a:chExt cx="4379976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79976" cy="914400"/>
            </a:xfrm>
            <a:custGeom>
              <a:avLst/>
              <a:gdLst/>
              <a:ahLst/>
              <a:cxnLst/>
              <a:rect r="r" b="b" t="t" l="l"/>
              <a:pathLst>
                <a:path h="914400" w="4379976">
                  <a:moveTo>
                    <a:pt x="0" y="0"/>
                  </a:moveTo>
                  <a:lnTo>
                    <a:pt x="4379976" y="0"/>
                  </a:lnTo>
                  <a:lnTo>
                    <a:pt x="43799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333" r="0" b="-4333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4379976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80698" y="7958887"/>
            <a:ext cx="10424160" cy="1920240"/>
            <a:chOff x="0" y="0"/>
            <a:chExt cx="13898880" cy="25603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8988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89888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3796518" y="0"/>
                  </a:lnTo>
                  <a:cubicBezTo>
                    <a:pt x="13853032" y="0"/>
                    <a:pt x="13898880" y="45847"/>
                    <a:pt x="13898880" y="102362"/>
                  </a:cubicBezTo>
                  <a:lnTo>
                    <a:pt x="13898880" y="2457958"/>
                  </a:lnTo>
                  <a:cubicBezTo>
                    <a:pt x="13898880" y="2514473"/>
                    <a:pt x="13853032" y="2560320"/>
                    <a:pt x="13796518" y="2560320"/>
                  </a:cubicBezTo>
                  <a:lnTo>
                    <a:pt x="102362" y="2560320"/>
                  </a:lnTo>
                  <a:cubicBezTo>
                    <a:pt x="45847" y="2560320"/>
                    <a:pt x="0" y="2514473"/>
                    <a:pt x="0" y="2457958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229975" y="8023860"/>
            <a:ext cx="5596128" cy="1920240"/>
            <a:chOff x="0" y="0"/>
            <a:chExt cx="7461504" cy="25603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61504" cy="2560320"/>
            </a:xfrm>
            <a:custGeom>
              <a:avLst/>
              <a:gdLst/>
              <a:ahLst/>
              <a:cxnLst/>
              <a:rect r="r" b="b" t="t" l="l"/>
              <a:pathLst>
                <a:path h="2560320" w="7461504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7359142" y="0"/>
                  </a:lnTo>
                  <a:cubicBezTo>
                    <a:pt x="7415657" y="0"/>
                    <a:pt x="7461504" y="45847"/>
                    <a:pt x="7461504" y="102362"/>
                  </a:cubicBezTo>
                  <a:lnTo>
                    <a:pt x="7461504" y="2457958"/>
                  </a:lnTo>
                  <a:cubicBezTo>
                    <a:pt x="7461504" y="2514473"/>
                    <a:pt x="7415657" y="2560320"/>
                    <a:pt x="7359142" y="2560320"/>
                  </a:cubicBezTo>
                  <a:lnTo>
                    <a:pt x="102362" y="2560320"/>
                  </a:lnTo>
                  <a:cubicBezTo>
                    <a:pt x="45847" y="2560320"/>
                    <a:pt x="0" y="2514473"/>
                    <a:pt x="0" y="2457958"/>
                  </a:cubicBezTo>
                  <a:close/>
                </a:path>
              </a:pathLst>
            </a:custGeom>
            <a:solidFill>
              <a:srgbClr val="FBE3C2"/>
            </a:solid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9938385" y="4659630"/>
            <a:ext cx="8179308" cy="2960244"/>
          </a:xfrm>
          <a:custGeom>
            <a:avLst/>
            <a:gdLst/>
            <a:ahLst/>
            <a:cxnLst/>
            <a:rect r="r" b="b" t="t" l="l"/>
            <a:pathLst>
              <a:path h="2960244" w="8179308">
                <a:moveTo>
                  <a:pt x="0" y="0"/>
                </a:moveTo>
                <a:lnTo>
                  <a:pt x="8179308" y="0"/>
                </a:lnTo>
                <a:lnTo>
                  <a:pt x="8179308" y="2960244"/>
                </a:lnTo>
                <a:lnTo>
                  <a:pt x="0" y="2960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5" id="45"/>
          <p:cNvSpPr txBox="true"/>
          <p:nvPr/>
        </p:nvSpPr>
        <p:spPr>
          <a:xfrm rot="0">
            <a:off x="1234440" y="3628263"/>
            <a:ext cx="328498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30-day readmission rate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4440" y="4008120"/>
            <a:ext cx="328498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C7A4E"/>
                </a:solidFill>
                <a:latin typeface="Calibri (MS)"/>
                <a:ea typeface="Calibri (MS)"/>
                <a:cs typeface="Calibri (MS)"/>
                <a:sym typeface="Calibri (MS)"/>
              </a:rPr>
              <a:t>95% CI: 29.55%–30.45%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410962" y="3628263"/>
            <a:ext cx="328498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Median length of stay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410962" y="4008120"/>
            <a:ext cx="328498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C7A4E"/>
                </a:solidFill>
                <a:latin typeface="Calibri (MS)"/>
                <a:ea typeface="Calibri (MS)"/>
                <a:cs typeface="Calibri (MS)"/>
                <a:sym typeface="Calibri (MS)"/>
              </a:rPr>
              <a:t>Mean: 4.72 days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87484" y="3628263"/>
            <a:ext cx="328498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Median treatment cost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87484" y="4008120"/>
            <a:ext cx="328498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C7A4E"/>
                </a:solidFill>
                <a:latin typeface="Calibri (MS)"/>
                <a:ea typeface="Calibri (MS)"/>
                <a:cs typeface="Calibri (MS)"/>
                <a:sym typeface="Calibri (MS)"/>
              </a:rPr>
              <a:t>Mean: $16,643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64006" y="3628263"/>
            <a:ext cx="328498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LOS–cost correlation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764006" y="4008120"/>
            <a:ext cx="328498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C7A4E"/>
                </a:solidFill>
                <a:latin typeface="Calibri (MS)"/>
                <a:ea typeface="Calibri (MS)"/>
                <a:cs typeface="Calibri (MS)"/>
                <a:sym typeface="Calibri (MS)"/>
              </a:rPr>
              <a:t>Strong positive relationship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23598" y="8059852"/>
            <a:ext cx="97383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3E10"/>
                </a:solidFill>
                <a:latin typeface="Alice Bold"/>
                <a:ea typeface="Alice Bold"/>
                <a:cs typeface="Alice Bold"/>
                <a:sym typeface="Alice Bold"/>
              </a:rPr>
              <a:t>Outlier analysis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80698" y="8583727"/>
            <a:ext cx="1042416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6" indent="-190023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Treatment cost is strongly right-skewed (skewness 5.82).</a:t>
            </a:r>
          </a:p>
          <a:p>
            <a:pPr algn="l" marL="380046" indent="-190023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Length of stay is right-skewed (skewness 1.78).</a:t>
            </a:r>
          </a:p>
          <a:p>
            <a:pPr algn="l" marL="380046" indent="-190023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Potential outliers signal unusually high costs or prolonged stays; investigate them rather than removing automatically.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490579" y="8138160"/>
            <a:ext cx="507492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3E10"/>
                </a:solidFill>
                <a:latin typeface="Alice Bold"/>
                <a:ea typeface="Alice Bold"/>
                <a:cs typeface="Alice Bold"/>
                <a:sym typeface="Alice Bold"/>
              </a:rPr>
              <a:t>Business insight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380851" y="8726602"/>
            <a:ext cx="5445252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A subset of admissions may contribute disproportionately to healthcare expenditure and resource utilization.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7987" y="9925050"/>
            <a:ext cx="163631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9C7A4E"/>
                </a:solidFill>
                <a:latin typeface="Alice Italics"/>
                <a:ea typeface="Alice Italics"/>
                <a:cs typeface="Alice Italics"/>
                <a:sym typeface="Alice Italics"/>
              </a:rPr>
              <a:t>Dataset: 40,000 admissions | 35,080 unique patients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689128" y="4659630"/>
            <a:ext cx="8624036" cy="3100636"/>
          </a:xfrm>
          <a:custGeom>
            <a:avLst/>
            <a:gdLst/>
            <a:ahLst/>
            <a:cxnLst/>
            <a:rect r="r" b="b" t="t" l="l"/>
            <a:pathLst>
              <a:path h="3100636" w="8624036">
                <a:moveTo>
                  <a:pt x="0" y="0"/>
                </a:moveTo>
                <a:lnTo>
                  <a:pt x="8624036" y="0"/>
                </a:lnTo>
                <a:lnTo>
                  <a:pt x="8624036" y="3100636"/>
                </a:lnTo>
                <a:lnTo>
                  <a:pt x="0" y="3100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537460"/>
            <a:chOff x="0" y="0"/>
            <a:chExt cx="24377904" cy="338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383280"/>
            </a:xfrm>
            <a:custGeom>
              <a:avLst/>
              <a:gdLst/>
              <a:ahLst/>
              <a:cxnLst/>
              <a:rect r="r" b="b" t="t" l="l"/>
              <a:pathLst>
                <a:path h="3383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383280"/>
                  </a:lnTo>
                  <a:lnTo>
                    <a:pt x="0" y="3383280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37460"/>
            <a:ext cx="18283428" cy="96012"/>
            <a:chOff x="0" y="0"/>
            <a:chExt cx="24377904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2084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75227" y="523865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09060" y="576072"/>
            <a:ext cx="11874627" cy="411480"/>
            <a:chOff x="0" y="0"/>
            <a:chExt cx="1583283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32837" cy="548640"/>
            </a:xfrm>
            <a:custGeom>
              <a:avLst/>
              <a:gdLst/>
              <a:ahLst/>
              <a:cxnLst/>
              <a:rect r="r" b="b" t="t" l="l"/>
              <a:pathLst>
                <a:path h="548640" w="15832837">
                  <a:moveTo>
                    <a:pt x="0" y="0"/>
                  </a:moveTo>
                  <a:lnTo>
                    <a:pt x="15832837" y="0"/>
                  </a:lnTo>
                  <a:lnTo>
                    <a:pt x="1583283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2305" r="0" b="-512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8328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05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09060" y="952500"/>
            <a:ext cx="11874627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EDA Findings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911828" y="1961388"/>
            <a:ext cx="822960" cy="480060"/>
            <a:chOff x="0" y="0"/>
            <a:chExt cx="10972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909060" y="1673352"/>
            <a:ext cx="12207240" cy="617220"/>
            <a:chOff x="0" y="0"/>
            <a:chExt cx="1627632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2763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370" r="0" b="-3353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276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A463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Older Age and Higher Treatment Costs Characterize Readmitted Patients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08767" y="2671572"/>
            <a:ext cx="6539103" cy="3518415"/>
            <a:chOff x="0" y="0"/>
            <a:chExt cx="6967728" cy="3749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7728" cy="3749040"/>
            </a:xfrm>
            <a:custGeom>
              <a:avLst/>
              <a:gdLst/>
              <a:ahLst/>
              <a:cxnLst/>
              <a:rect r="r" b="b" t="t" l="l"/>
              <a:pathLst>
                <a:path h="3749040" w="6967728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6817741" y="0"/>
                  </a:lnTo>
                  <a:cubicBezTo>
                    <a:pt x="6900545" y="0"/>
                    <a:pt x="6967728" y="67183"/>
                    <a:pt x="6967728" y="149987"/>
                  </a:cubicBezTo>
                  <a:lnTo>
                    <a:pt x="6967728" y="3599053"/>
                  </a:lnTo>
                  <a:cubicBezTo>
                    <a:pt x="6967728" y="3681857"/>
                    <a:pt x="6900545" y="3749040"/>
                    <a:pt x="6817741" y="3749040"/>
                  </a:cubicBezTo>
                  <a:lnTo>
                    <a:pt x="149987" y="3749040"/>
                  </a:lnTo>
                  <a:cubicBezTo>
                    <a:pt x="67183" y="3749040"/>
                    <a:pt x="0" y="3681857"/>
                    <a:pt x="0" y="3599053"/>
                  </a:cubicBezTo>
                  <a:close/>
                </a:path>
              </a:pathLst>
            </a:custGeom>
            <a:blipFill>
              <a:blip r:embed="rId5"/>
              <a:stretch>
                <a:fillRect l="0" t="-20533" r="0" b="-20533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57385" y="6421374"/>
            <a:ext cx="10151382" cy="2764917"/>
            <a:chOff x="0" y="0"/>
            <a:chExt cx="14771750" cy="4023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771751" cy="4023360"/>
            </a:xfrm>
            <a:custGeom>
              <a:avLst/>
              <a:gdLst/>
              <a:ahLst/>
              <a:cxnLst/>
              <a:rect r="r" b="b" t="t" l="l"/>
              <a:pathLst>
                <a:path h="4023360" w="14771751">
                  <a:moveTo>
                    <a:pt x="0" y="160909"/>
                  </a:moveTo>
                  <a:cubicBezTo>
                    <a:pt x="0" y="72009"/>
                    <a:pt x="76531" y="0"/>
                    <a:pt x="171014" y="0"/>
                  </a:cubicBezTo>
                  <a:lnTo>
                    <a:pt x="14600735" y="0"/>
                  </a:lnTo>
                  <a:cubicBezTo>
                    <a:pt x="14695219" y="0"/>
                    <a:pt x="14771751" y="72009"/>
                    <a:pt x="14771751" y="160909"/>
                  </a:cubicBezTo>
                  <a:lnTo>
                    <a:pt x="14771751" y="3862451"/>
                  </a:lnTo>
                  <a:cubicBezTo>
                    <a:pt x="14771751" y="3951351"/>
                    <a:pt x="14695219" y="4023360"/>
                    <a:pt x="14600735" y="4023360"/>
                  </a:cubicBezTo>
                  <a:lnTo>
                    <a:pt x="171014" y="4023360"/>
                  </a:lnTo>
                  <a:cubicBezTo>
                    <a:pt x="76531" y="4023360"/>
                    <a:pt x="0" y="3951351"/>
                    <a:pt x="0" y="3862451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1630" y="5538207"/>
            <a:ext cx="12483960" cy="4600559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 rot="0">
            <a:off x="11001333" y="6636258"/>
            <a:ext cx="6321975" cy="2549652"/>
            <a:chOff x="0" y="0"/>
            <a:chExt cx="8429300" cy="33995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29299" cy="3399536"/>
            </a:xfrm>
            <a:custGeom>
              <a:avLst/>
              <a:gdLst/>
              <a:ahLst/>
              <a:cxnLst/>
              <a:rect r="r" b="b" t="t" l="l"/>
              <a:pathLst>
                <a:path h="3399536" w="8429299">
                  <a:moveTo>
                    <a:pt x="0" y="135960"/>
                  </a:moveTo>
                  <a:cubicBezTo>
                    <a:pt x="0" y="60844"/>
                    <a:pt x="81349" y="0"/>
                    <a:pt x="181780" y="0"/>
                  </a:cubicBezTo>
                  <a:lnTo>
                    <a:pt x="8247520" y="0"/>
                  </a:lnTo>
                  <a:cubicBezTo>
                    <a:pt x="8347950" y="0"/>
                    <a:pt x="8429299" y="60844"/>
                    <a:pt x="8429299" y="135960"/>
                  </a:cubicBezTo>
                  <a:lnTo>
                    <a:pt x="8429299" y="3263576"/>
                  </a:lnTo>
                  <a:cubicBezTo>
                    <a:pt x="8429299" y="3338692"/>
                    <a:pt x="8347950" y="3399536"/>
                    <a:pt x="8247520" y="3399536"/>
                  </a:cubicBezTo>
                  <a:lnTo>
                    <a:pt x="181780" y="3399536"/>
                  </a:lnTo>
                  <a:cubicBezTo>
                    <a:pt x="81349" y="3399536"/>
                    <a:pt x="0" y="3338692"/>
                    <a:pt x="0" y="3263576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05467" y="9341358"/>
            <a:ext cx="16770953" cy="1061085"/>
            <a:chOff x="0" y="0"/>
            <a:chExt cx="22361270" cy="14147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361271" cy="1414780"/>
            </a:xfrm>
            <a:custGeom>
              <a:avLst/>
              <a:gdLst/>
              <a:ahLst/>
              <a:cxnLst/>
              <a:rect r="r" b="b" t="t" l="l"/>
              <a:pathLst>
                <a:path h="1414780" w="22361271">
                  <a:moveTo>
                    <a:pt x="0" y="56531"/>
                  </a:moveTo>
                  <a:cubicBezTo>
                    <a:pt x="0" y="25393"/>
                    <a:pt x="21868" y="0"/>
                    <a:pt x="48682" y="0"/>
                  </a:cubicBezTo>
                  <a:lnTo>
                    <a:pt x="22312590" y="0"/>
                  </a:lnTo>
                  <a:cubicBezTo>
                    <a:pt x="22339533" y="0"/>
                    <a:pt x="22361271" y="25393"/>
                    <a:pt x="22361271" y="56531"/>
                  </a:cubicBezTo>
                  <a:lnTo>
                    <a:pt x="22361271" y="1358249"/>
                  </a:lnTo>
                  <a:cubicBezTo>
                    <a:pt x="22361271" y="1389538"/>
                    <a:pt x="22339404" y="1414780"/>
                    <a:pt x="22312590" y="1414780"/>
                  </a:cubicBezTo>
                  <a:lnTo>
                    <a:pt x="48682" y="1414780"/>
                  </a:lnTo>
                  <a:cubicBezTo>
                    <a:pt x="21868" y="1414780"/>
                    <a:pt x="0" y="1389387"/>
                    <a:pt x="0" y="1358249"/>
                  </a:cubicBez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05467" y="9322308"/>
            <a:ext cx="16102495" cy="891540"/>
            <a:chOff x="0" y="0"/>
            <a:chExt cx="21469993" cy="1188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469992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469992">
                  <a:moveTo>
                    <a:pt x="0" y="0"/>
                  </a:moveTo>
                  <a:lnTo>
                    <a:pt x="21469992" y="0"/>
                  </a:lnTo>
                  <a:lnTo>
                    <a:pt x="2146999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6234" r="1617" b="-29623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1469993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3E10"/>
                  </a:solidFill>
                  <a:latin typeface="Alice Bold"/>
                  <a:ea typeface="Alice Bold"/>
                  <a:cs typeface="Alice Bold"/>
                  <a:sym typeface="Alice Bold"/>
                </a:rPr>
                <a:t>Business insight: </a:t>
              </a:r>
              <a:r>
                <a:rPr lang="en-US" sz="2199">
                  <a:solidFill>
                    <a:srgbClr val="5A4636"/>
                  </a:solidFill>
                  <a:latin typeface="Alice"/>
                  <a:ea typeface="Alice"/>
                  <a:cs typeface="Alice"/>
                  <a:sym typeface="Alice"/>
                </a:rPr>
                <a:t>Older age, certain diagnoses and higher observed costs are associated with readmission and can guide further risk analysis. These associations do not establish causation.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775930" y="2662916"/>
            <a:ext cx="6915014" cy="3758458"/>
          </a:xfrm>
          <a:custGeom>
            <a:avLst/>
            <a:gdLst/>
            <a:ahLst/>
            <a:cxnLst/>
            <a:rect r="r" b="b" t="t" l="l"/>
            <a:pathLst>
              <a:path h="3758458" w="6915014">
                <a:moveTo>
                  <a:pt x="0" y="0"/>
                </a:moveTo>
                <a:lnTo>
                  <a:pt x="6915014" y="0"/>
                </a:lnTo>
                <a:lnTo>
                  <a:pt x="6915014" y="3758458"/>
                </a:lnTo>
                <a:lnTo>
                  <a:pt x="0" y="37584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995" r="0" b="-1995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3" id="33"/>
          <p:cNvSpPr txBox="true"/>
          <p:nvPr/>
        </p:nvSpPr>
        <p:spPr>
          <a:xfrm rot="0">
            <a:off x="11271123" y="6313812"/>
            <a:ext cx="507492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A3E10"/>
                </a:solidFill>
                <a:latin typeface="Alice Bold"/>
                <a:ea typeface="Alice Bold"/>
                <a:cs typeface="Alice Bold"/>
                <a:sym typeface="Alice Bold"/>
              </a:rPr>
              <a:t>Key findings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41939" y="6902958"/>
            <a:ext cx="5733288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143" indent="-199072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Readmitted patients are about 8 years older on average (73.6 vs 65.3).</a:t>
            </a:r>
          </a:p>
          <a:p>
            <a:pPr algn="l" marL="398143" indent="-199072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Median cost is about $2,000 higher ($14,888 vs $12,863).</a:t>
            </a:r>
          </a:p>
          <a:p>
            <a:pPr algn="l" marL="398143" indent="-199072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Mean HbA1c is higher: 6.79 vs 6.45.</a:t>
            </a:r>
          </a:p>
          <a:p>
            <a:pPr algn="l" marL="398143" indent="-199072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Heart Failure (38.65%) and COPD (36.85%) lead.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537460"/>
            <a:chOff x="0" y="0"/>
            <a:chExt cx="24377904" cy="338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383280"/>
            </a:xfrm>
            <a:custGeom>
              <a:avLst/>
              <a:gdLst/>
              <a:ahLst/>
              <a:cxnLst/>
              <a:rect r="r" b="b" t="t" l="l"/>
              <a:pathLst>
                <a:path h="3383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383280"/>
                  </a:lnTo>
                  <a:lnTo>
                    <a:pt x="0" y="3383280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37460"/>
            <a:ext cx="18283428" cy="96012"/>
            <a:chOff x="0" y="0"/>
            <a:chExt cx="24377904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2084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75227" y="523865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09060" y="576072"/>
            <a:ext cx="11874627" cy="411480"/>
            <a:chOff x="0" y="0"/>
            <a:chExt cx="1583283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32837" cy="548640"/>
            </a:xfrm>
            <a:custGeom>
              <a:avLst/>
              <a:gdLst/>
              <a:ahLst/>
              <a:cxnLst/>
              <a:rect r="r" b="b" t="t" l="l"/>
              <a:pathLst>
                <a:path h="548640" w="15832837">
                  <a:moveTo>
                    <a:pt x="0" y="0"/>
                  </a:moveTo>
                  <a:lnTo>
                    <a:pt x="15832837" y="0"/>
                  </a:lnTo>
                  <a:lnTo>
                    <a:pt x="1583283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2305" r="0" b="-512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8328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06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09060" y="952500"/>
            <a:ext cx="11874627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Engineering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911828" y="1961388"/>
            <a:ext cx="822960" cy="480060"/>
            <a:chOff x="0" y="0"/>
            <a:chExt cx="10972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909060" y="1673352"/>
            <a:ext cx="12207240" cy="617220"/>
            <a:chOff x="0" y="0"/>
            <a:chExt cx="1627632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2763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370" r="0" b="-3353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276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A463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Transforming raw data into meaningful predictors</a:t>
              </a: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960120" y="2880360"/>
          <a:ext cx="10610850" cy="5548572"/>
        </p:xfrm>
        <a:graphic>
          <a:graphicData uri="http://schemas.openxmlformats.org/drawingml/2006/table">
            <a:tbl>
              <a:tblPr/>
              <a:tblGrid>
                <a:gridCol w="3017696"/>
                <a:gridCol w="4575459"/>
                <a:gridCol w="3017696"/>
              </a:tblGrid>
              <a:tr h="6234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Engineered feature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Logic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Note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9496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A3E1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Prior Utilization 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Combines scaled previous admissions, ER visits and outpatient visits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Single summary of prior care use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265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A3E1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Exploratory Risk Index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Combines flags: age ≥65, prior admission, frequent ER visits, medication burden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9"/>
                        </a:lnSpc>
                        <a:defRPr/>
                      </a:pPr>
                      <a:r>
                        <a:rPr lang="en-US" sz="19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Exploratory risk signal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</a:tr>
              <a:tr h="9496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A3E1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Cost Per Day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9"/>
                        </a:lnSpc>
                        <a:defRPr/>
                      </a:pPr>
                      <a:r>
                        <a:rPr lang="en-US" sz="19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Treatment cost ÷ length of stay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Check availability at prediction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96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A3E1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Medication Burden 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Flags medication count ≥5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Captures heavy medication load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</a:tr>
              <a:tr h="9496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A3E1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ER Dependency Ratio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ER visits ÷ (ER + outpatient visits)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Reliance on ER vs outpatient care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11932920" y="2880360"/>
            <a:ext cx="5390388" cy="5417820"/>
            <a:chOff x="0" y="0"/>
            <a:chExt cx="7187184" cy="7223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87185" cy="7223760"/>
            </a:xfrm>
            <a:custGeom>
              <a:avLst/>
              <a:gdLst/>
              <a:ahLst/>
              <a:cxnLst/>
              <a:rect r="r" b="b" t="t" l="l"/>
              <a:pathLst>
                <a:path h="7223760" w="7187185">
                  <a:moveTo>
                    <a:pt x="0" y="287528"/>
                  </a:moveTo>
                  <a:cubicBezTo>
                    <a:pt x="0" y="128651"/>
                    <a:pt x="128651" y="0"/>
                    <a:pt x="287528" y="0"/>
                  </a:cubicBezTo>
                  <a:lnTo>
                    <a:pt x="6899656" y="0"/>
                  </a:lnTo>
                  <a:cubicBezTo>
                    <a:pt x="7058406" y="0"/>
                    <a:pt x="7187185" y="128651"/>
                    <a:pt x="7187185" y="287528"/>
                  </a:cubicBezTo>
                  <a:lnTo>
                    <a:pt x="7187185" y="6936232"/>
                  </a:lnTo>
                  <a:cubicBezTo>
                    <a:pt x="7187185" y="7094982"/>
                    <a:pt x="7058533" y="7223760"/>
                    <a:pt x="6899656" y="7223760"/>
                  </a:cubicBezTo>
                  <a:lnTo>
                    <a:pt x="287528" y="7223760"/>
                  </a:lnTo>
                  <a:cubicBezTo>
                    <a:pt x="128651" y="7223760"/>
                    <a:pt x="0" y="7095109"/>
                    <a:pt x="0" y="6936232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275820" y="3035427"/>
            <a:ext cx="473202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A3E10"/>
                </a:solidFill>
                <a:latin typeface="Alice Bold"/>
                <a:ea typeface="Alice Bold"/>
                <a:cs typeface="Alice Bold"/>
                <a:sym typeface="Alice Bold"/>
              </a:rPr>
              <a:t>Leakage prevention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32920" y="3584067"/>
            <a:ext cx="5390388" cy="345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9643" indent="-189822" lvl="1">
              <a:lnSpc>
                <a:spcPts val="2517"/>
              </a:lnSpc>
              <a:buFont typeface="Arial"/>
              <a:buChar char="•"/>
            </a:pPr>
            <a:r>
              <a:rPr lang="en-US" sz="2097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Chronic Condition Count, calculated using all admissions, is excluded because it may incorporate future information.</a:t>
            </a:r>
          </a:p>
          <a:p>
            <a:pPr algn="l">
              <a:lnSpc>
                <a:spcPts val="2517"/>
              </a:lnSpc>
            </a:pPr>
          </a:p>
          <a:p>
            <a:pPr algn="l" marL="379643" indent="-189822" lvl="1">
              <a:lnSpc>
                <a:spcPts val="2517"/>
              </a:lnSpc>
              <a:buFont typeface="Arial"/>
              <a:buChar char="•"/>
            </a:pPr>
            <a:r>
              <a:rPr lang="en-US" sz="2097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Readmission history, final length of stay and treatment cost must be checked against the intended prediction time.</a:t>
            </a:r>
          </a:p>
          <a:p>
            <a:pPr algn="l">
              <a:lnSpc>
                <a:spcPts val="2517"/>
              </a:lnSpc>
            </a:pPr>
          </a:p>
          <a:p>
            <a:pPr algn="l" marL="379643" indent="-189822" lvl="1">
              <a:lnSpc>
                <a:spcPts val="2517"/>
              </a:lnSpc>
              <a:buFont typeface="Arial"/>
              <a:buChar char="•"/>
            </a:pPr>
            <a:r>
              <a:rPr lang="en-US" sz="2097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Use only features available when the model is expected to generate a prediction.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60120" y="8709660"/>
            <a:ext cx="3576447" cy="1028700"/>
            <a:chOff x="0" y="0"/>
            <a:chExt cx="4768596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68596" cy="1371600"/>
            </a:xfrm>
            <a:custGeom>
              <a:avLst/>
              <a:gdLst/>
              <a:ahLst/>
              <a:cxnLst/>
              <a:rect r="r" b="b" t="t" l="l"/>
              <a:pathLst>
                <a:path h="1371600" w="476859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4713732" y="0"/>
                  </a:lnTo>
                  <a:cubicBezTo>
                    <a:pt x="4744085" y="0"/>
                    <a:pt x="4768596" y="24511"/>
                    <a:pt x="4768596" y="54864"/>
                  </a:cubicBezTo>
                  <a:lnTo>
                    <a:pt x="4768596" y="1316736"/>
                  </a:lnTo>
                  <a:cubicBezTo>
                    <a:pt x="4768596" y="1347089"/>
                    <a:pt x="4744085" y="1371600"/>
                    <a:pt x="4713732" y="1371600"/>
                  </a:cubicBezTo>
                  <a:lnTo>
                    <a:pt x="54864" y="1371600"/>
                  </a:lnTo>
                  <a:cubicBezTo>
                    <a:pt x="24511" y="1371600"/>
                    <a:pt x="0" y="1347089"/>
                    <a:pt x="0" y="1316736"/>
                  </a:cubicBez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" y="8709660"/>
            <a:ext cx="3302127" cy="1028700"/>
            <a:chOff x="0" y="0"/>
            <a:chExt cx="4402836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02836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6" r="0" b="-1254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402836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7A3E10"/>
                  </a:solidFill>
                  <a:latin typeface="Alice Bold"/>
                  <a:ea typeface="Alice Bold"/>
                  <a:cs typeface="Alice Bold"/>
                  <a:sym typeface="Alice Bold"/>
                </a:rPr>
                <a:t>Raw clinical &amp; utilization data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673727" y="9011412"/>
            <a:ext cx="411480" cy="425196"/>
            <a:chOff x="0" y="0"/>
            <a:chExt cx="548640" cy="5669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" cy="566928"/>
            </a:xfrm>
            <a:custGeom>
              <a:avLst/>
              <a:gdLst/>
              <a:ahLst/>
              <a:cxnLst/>
              <a:rect r="r" b="b" t="t" l="l"/>
              <a:pathLst>
                <a:path h="566928" w="548640">
                  <a:moveTo>
                    <a:pt x="0" y="141732"/>
                  </a:moveTo>
                  <a:lnTo>
                    <a:pt x="274320" y="141732"/>
                  </a:lnTo>
                  <a:lnTo>
                    <a:pt x="274320" y="0"/>
                  </a:lnTo>
                  <a:lnTo>
                    <a:pt x="548640" y="283464"/>
                  </a:lnTo>
                  <a:lnTo>
                    <a:pt x="274320" y="566928"/>
                  </a:lnTo>
                  <a:lnTo>
                    <a:pt x="274320" y="425196"/>
                  </a:lnTo>
                  <a:lnTo>
                    <a:pt x="0" y="42519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222367" y="8709660"/>
            <a:ext cx="3576447" cy="1028700"/>
            <a:chOff x="0" y="0"/>
            <a:chExt cx="4768596" cy="1371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68596" cy="1371600"/>
            </a:xfrm>
            <a:custGeom>
              <a:avLst/>
              <a:gdLst/>
              <a:ahLst/>
              <a:cxnLst/>
              <a:rect r="r" b="b" t="t" l="l"/>
              <a:pathLst>
                <a:path h="1371600" w="476859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4713732" y="0"/>
                  </a:lnTo>
                  <a:cubicBezTo>
                    <a:pt x="4744085" y="0"/>
                    <a:pt x="4768596" y="24511"/>
                    <a:pt x="4768596" y="54864"/>
                  </a:cubicBezTo>
                  <a:lnTo>
                    <a:pt x="4768596" y="1316736"/>
                  </a:lnTo>
                  <a:cubicBezTo>
                    <a:pt x="4768596" y="1347089"/>
                    <a:pt x="4744085" y="1371600"/>
                    <a:pt x="4713732" y="1371600"/>
                  </a:cubicBezTo>
                  <a:lnTo>
                    <a:pt x="54864" y="1371600"/>
                  </a:lnTo>
                  <a:cubicBezTo>
                    <a:pt x="24511" y="1371600"/>
                    <a:pt x="0" y="1347089"/>
                    <a:pt x="0" y="1316736"/>
                  </a:cubicBez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359527" y="8709660"/>
            <a:ext cx="3302127" cy="1028700"/>
            <a:chOff x="0" y="0"/>
            <a:chExt cx="4402836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02836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6" r="0" b="-1254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402836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7A3E10"/>
                  </a:solidFill>
                  <a:latin typeface="Alice Bold"/>
                  <a:ea typeface="Alice Bold"/>
                  <a:cs typeface="Alice Bold"/>
                  <a:sym typeface="Alice Bold"/>
                </a:rPr>
                <a:t>Feature engineering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35974" y="9011412"/>
            <a:ext cx="411480" cy="425196"/>
            <a:chOff x="0" y="0"/>
            <a:chExt cx="548640" cy="5669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" cy="566928"/>
            </a:xfrm>
            <a:custGeom>
              <a:avLst/>
              <a:gdLst/>
              <a:ahLst/>
              <a:cxnLst/>
              <a:rect r="r" b="b" t="t" l="l"/>
              <a:pathLst>
                <a:path h="566928" w="548640">
                  <a:moveTo>
                    <a:pt x="0" y="141732"/>
                  </a:moveTo>
                  <a:lnTo>
                    <a:pt x="274320" y="141732"/>
                  </a:lnTo>
                  <a:lnTo>
                    <a:pt x="274320" y="0"/>
                  </a:lnTo>
                  <a:lnTo>
                    <a:pt x="548640" y="283464"/>
                  </a:lnTo>
                  <a:lnTo>
                    <a:pt x="274320" y="566928"/>
                  </a:lnTo>
                  <a:lnTo>
                    <a:pt x="274320" y="425196"/>
                  </a:lnTo>
                  <a:lnTo>
                    <a:pt x="0" y="42519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484614" y="8709660"/>
            <a:ext cx="3576447" cy="1028700"/>
            <a:chOff x="0" y="0"/>
            <a:chExt cx="4768596" cy="1371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68596" cy="1371600"/>
            </a:xfrm>
            <a:custGeom>
              <a:avLst/>
              <a:gdLst/>
              <a:ahLst/>
              <a:cxnLst/>
              <a:rect r="r" b="b" t="t" l="l"/>
              <a:pathLst>
                <a:path h="1371600" w="476859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4713732" y="0"/>
                  </a:lnTo>
                  <a:cubicBezTo>
                    <a:pt x="4744085" y="0"/>
                    <a:pt x="4768596" y="24511"/>
                    <a:pt x="4768596" y="54864"/>
                  </a:cubicBezTo>
                  <a:lnTo>
                    <a:pt x="4768596" y="1316736"/>
                  </a:lnTo>
                  <a:cubicBezTo>
                    <a:pt x="4768596" y="1347089"/>
                    <a:pt x="4744085" y="1371600"/>
                    <a:pt x="4713732" y="1371600"/>
                  </a:cubicBezTo>
                  <a:lnTo>
                    <a:pt x="54864" y="1371600"/>
                  </a:lnTo>
                  <a:cubicBezTo>
                    <a:pt x="24511" y="1371600"/>
                    <a:pt x="0" y="1347089"/>
                    <a:pt x="0" y="1316736"/>
                  </a:cubicBez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621774" y="8709660"/>
            <a:ext cx="3302127" cy="1028700"/>
            <a:chOff x="0" y="0"/>
            <a:chExt cx="4402836" cy="1371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02836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6" r="0" b="-1254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4402836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7A3E10"/>
                  </a:solidFill>
                  <a:latin typeface="Alice Bold"/>
                  <a:ea typeface="Alice Bold"/>
                  <a:cs typeface="Alice Bold"/>
                  <a:sym typeface="Alice Bold"/>
                </a:rPr>
                <a:t>Leakage check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98221" y="9011412"/>
            <a:ext cx="411480" cy="425196"/>
            <a:chOff x="0" y="0"/>
            <a:chExt cx="548640" cy="5669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640" cy="566928"/>
            </a:xfrm>
            <a:custGeom>
              <a:avLst/>
              <a:gdLst/>
              <a:ahLst/>
              <a:cxnLst/>
              <a:rect r="r" b="b" t="t" l="l"/>
              <a:pathLst>
                <a:path h="566928" w="548640">
                  <a:moveTo>
                    <a:pt x="0" y="141732"/>
                  </a:moveTo>
                  <a:lnTo>
                    <a:pt x="274320" y="141732"/>
                  </a:lnTo>
                  <a:lnTo>
                    <a:pt x="274320" y="0"/>
                  </a:lnTo>
                  <a:lnTo>
                    <a:pt x="548640" y="283464"/>
                  </a:lnTo>
                  <a:lnTo>
                    <a:pt x="274320" y="566928"/>
                  </a:lnTo>
                  <a:lnTo>
                    <a:pt x="274320" y="425196"/>
                  </a:lnTo>
                  <a:lnTo>
                    <a:pt x="0" y="42519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746861" y="8709660"/>
            <a:ext cx="3576447" cy="1028700"/>
            <a:chOff x="0" y="0"/>
            <a:chExt cx="4768596" cy="1371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68596" cy="1371600"/>
            </a:xfrm>
            <a:custGeom>
              <a:avLst/>
              <a:gdLst/>
              <a:ahLst/>
              <a:cxnLst/>
              <a:rect r="r" b="b" t="t" l="l"/>
              <a:pathLst>
                <a:path h="1371600" w="476859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4713732" y="0"/>
                  </a:lnTo>
                  <a:cubicBezTo>
                    <a:pt x="4744085" y="0"/>
                    <a:pt x="4768596" y="24511"/>
                    <a:pt x="4768596" y="54864"/>
                  </a:cubicBezTo>
                  <a:lnTo>
                    <a:pt x="4768596" y="1316736"/>
                  </a:lnTo>
                  <a:cubicBezTo>
                    <a:pt x="4768596" y="1347089"/>
                    <a:pt x="4744085" y="1371600"/>
                    <a:pt x="4713732" y="1371600"/>
                  </a:cubicBezTo>
                  <a:lnTo>
                    <a:pt x="54864" y="1371600"/>
                  </a:lnTo>
                  <a:cubicBezTo>
                    <a:pt x="24511" y="1371600"/>
                    <a:pt x="0" y="1347089"/>
                    <a:pt x="0" y="1316736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884021" y="8709660"/>
            <a:ext cx="3302127" cy="1028700"/>
            <a:chOff x="0" y="0"/>
            <a:chExt cx="4402836" cy="1371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02836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6" r="0" b="-1254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402836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Alice Bold"/>
                  <a:ea typeface="Alice Bold"/>
                  <a:cs typeface="Alice Bold"/>
                  <a:sym typeface="Alice Bold"/>
                </a:rPr>
                <a:t>Model-ready features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714500"/>
            <a:chOff x="0" y="0"/>
            <a:chExt cx="24377904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" y="1619250"/>
            <a:ext cx="18283428" cy="95250"/>
            <a:chOff x="0" y="0"/>
            <a:chExt cx="24377904" cy="1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27000"/>
            </a:xfrm>
            <a:custGeom>
              <a:avLst/>
              <a:gdLst/>
              <a:ahLst/>
              <a:cxnLst/>
              <a:rect r="r" b="b" t="t" l="l"/>
              <a:pathLst>
                <a:path h="127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2084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75227" y="523865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09060" y="576072"/>
            <a:ext cx="11874627" cy="411480"/>
            <a:chOff x="0" y="0"/>
            <a:chExt cx="1583283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32837" cy="548640"/>
            </a:xfrm>
            <a:custGeom>
              <a:avLst/>
              <a:gdLst/>
              <a:ahLst/>
              <a:cxnLst/>
              <a:rect r="r" b="b" t="t" l="l"/>
              <a:pathLst>
                <a:path h="548640" w="15832837">
                  <a:moveTo>
                    <a:pt x="0" y="0"/>
                  </a:moveTo>
                  <a:lnTo>
                    <a:pt x="15832837" y="0"/>
                  </a:lnTo>
                  <a:lnTo>
                    <a:pt x="1583283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2305" r="0" b="-512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8328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07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09060" y="952500"/>
            <a:ext cx="11874627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 Model Results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847820" y="1234440"/>
            <a:ext cx="822960" cy="480060"/>
            <a:chOff x="0" y="0"/>
            <a:chExt cx="10972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487263" y="1790700"/>
          <a:ext cx="17183517" cy="6828811"/>
        </p:xfrm>
        <a:graphic>
          <a:graphicData uri="http://schemas.openxmlformats.org/drawingml/2006/table">
            <a:tbl>
              <a:tblPr/>
              <a:tblGrid>
                <a:gridCol w="4818554"/>
                <a:gridCol w="2425645"/>
                <a:gridCol w="2425645"/>
                <a:gridCol w="2425645"/>
                <a:gridCol w="2425645"/>
                <a:gridCol w="2662385"/>
              </a:tblGrid>
              <a:tr h="7077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Model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Accuracy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Precision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Recall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F1 Score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ROC-AUC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654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Logistic Regression + SMOTENC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66.24%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45.58%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60.93%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52.15%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69.77%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4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Decision Tree + SMOTENC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79.83%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65.54%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70.01%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67.70%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77.05%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</a:tr>
              <a:tr h="6119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Random Forest — Baseline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92.41%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97.92%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76.47%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85.87%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97.41%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Random Forest + SMOTENC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92.19%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93.54%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79.63%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86.03%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96.47%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</a:tr>
              <a:tr h="646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Gradient Boosting + SMOTENC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73.31%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60.48%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33.40%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43.04%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75.27%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17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Deep Neural Network</a:t>
                      </a:r>
                      <a:endParaRPr lang="en-US" sz="1100"/>
                    </a:p>
                    <a:p>
                      <a:pPr algn="ctr">
                        <a:lnSpc>
                          <a:spcPts val="2999"/>
                        </a:lnSpc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 (64, 32, 16,1)</a:t>
                      </a:r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 i="true">
                          <a:solidFill>
                            <a:srgbClr val="17324D"/>
                          </a:solidFill>
                          <a:latin typeface="Alice Italics"/>
                          <a:ea typeface="Alice Italics"/>
                          <a:cs typeface="Alice Italics"/>
                          <a:sym typeface="Alice Italics"/>
                        </a:rPr>
                        <a:t>86%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 i="true">
                          <a:solidFill>
                            <a:srgbClr val="17324D"/>
                          </a:solidFill>
                          <a:latin typeface="Aptos Italics"/>
                          <a:ea typeface="Aptos Italics"/>
                          <a:cs typeface="Aptos Italics"/>
                          <a:sym typeface="Aptos Italics"/>
                        </a:rPr>
                        <a:t>75%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77%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76%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90%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</a:tr>
              <a:tr h="9829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Deep Neural Network 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(128, 64, 32, 1)</a:t>
                      </a:r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 i="true">
                          <a:solidFill>
                            <a:srgbClr val="17324D"/>
                          </a:solidFill>
                          <a:latin typeface="Alice Italics"/>
                          <a:ea typeface="Alice Italics"/>
                          <a:cs typeface="Alice Italics"/>
                          <a:sym typeface="Alice Italics"/>
                        </a:rPr>
                        <a:t>66%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 i="true">
                          <a:solidFill>
                            <a:srgbClr val="17324D"/>
                          </a:solidFill>
                          <a:latin typeface="Aptos Italics"/>
                          <a:ea typeface="Aptos Italics"/>
                          <a:cs typeface="Aptos Italics"/>
                          <a:sym typeface="Aptos Italics"/>
                        </a:rPr>
                        <a:t>46%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73 %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56%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74%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Deep Neural Network 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(256, 128, 64,1)</a:t>
                      </a:r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 i="true">
                          <a:solidFill>
                            <a:srgbClr val="17324D"/>
                          </a:solidFill>
                          <a:latin typeface="Alice Italics"/>
                          <a:ea typeface="Alice Italics"/>
                          <a:cs typeface="Alice Italics"/>
                          <a:sym typeface="Alice Italics"/>
                        </a:rPr>
                        <a:t>69%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 i="true">
                          <a:solidFill>
                            <a:srgbClr val="17324D"/>
                          </a:solidFill>
                          <a:latin typeface="Aptos Italics"/>
                          <a:ea typeface="Aptos Italics"/>
                          <a:cs typeface="Aptos Italics"/>
                          <a:sym typeface="Aptos Italics"/>
                        </a:rPr>
                        <a:t>49%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76%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59%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77%</a:t>
                      </a:r>
                      <a:endParaRPr lang="en-US" sz="1100"/>
                    </a:p>
                  </a:txBody>
                  <a:tcPr marL="32004" marR="32004" marT="32004" marB="32004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185554" y="8755400"/>
            <a:ext cx="17549234" cy="1440180"/>
            <a:chOff x="0" y="0"/>
            <a:chExt cx="23398979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3989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3398980">
                  <a:moveTo>
                    <a:pt x="0" y="43698"/>
                  </a:moveTo>
                  <a:cubicBezTo>
                    <a:pt x="0" y="19592"/>
                    <a:pt x="26015" y="0"/>
                    <a:pt x="58023" y="0"/>
                  </a:cubicBezTo>
                  <a:lnTo>
                    <a:pt x="23340955" y="0"/>
                  </a:lnTo>
                  <a:cubicBezTo>
                    <a:pt x="23372964" y="0"/>
                    <a:pt x="23398980" y="19592"/>
                    <a:pt x="23398980" y="43698"/>
                  </a:cubicBezTo>
                  <a:lnTo>
                    <a:pt x="23398980" y="1876542"/>
                  </a:lnTo>
                  <a:cubicBezTo>
                    <a:pt x="23398980" y="1900648"/>
                    <a:pt x="23372964" y="1920240"/>
                    <a:pt x="23340955" y="1920240"/>
                  </a:cubicBezTo>
                  <a:lnTo>
                    <a:pt x="58023" y="1920240"/>
                  </a:lnTo>
                  <a:cubicBezTo>
                    <a:pt x="26015" y="1920240"/>
                    <a:pt x="0" y="1900648"/>
                    <a:pt x="0" y="1876542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51271" y="8755400"/>
            <a:ext cx="17180886" cy="1440180"/>
            <a:chOff x="0" y="0"/>
            <a:chExt cx="22907848" cy="1920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07848" cy="1920240"/>
            </a:xfrm>
            <a:custGeom>
              <a:avLst/>
              <a:gdLst/>
              <a:ahLst/>
              <a:cxnLst/>
              <a:rect r="r" b="b" t="t" l="l"/>
              <a:pathLst>
                <a:path h="1920240" w="22907848">
                  <a:moveTo>
                    <a:pt x="0" y="0"/>
                  </a:moveTo>
                  <a:lnTo>
                    <a:pt x="22907848" y="0"/>
                  </a:lnTo>
                  <a:lnTo>
                    <a:pt x="22907848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8397" r="10347" b="-1583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2907848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>
                  <a:solidFill>
                    <a:srgbClr val="17324D"/>
                  </a:solidFill>
                  <a:latin typeface="Alice"/>
                  <a:ea typeface="Alice"/>
                  <a:cs typeface="Alice"/>
                  <a:sym typeface="Alice"/>
                </a:rPr>
                <a:t>Best recall: Random Forest + SMOTENC (79.63%); it detected 1,912 of 2,401 readmissions and missed 489. Baseline RF had higher precision (97.92%) and ROC-AUC (97.41%). Split: 32,046 train / 7,954 test, with no patient overlap. Validate prediction-time leakage before deployment.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537460"/>
            <a:chOff x="0" y="0"/>
            <a:chExt cx="24377904" cy="338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383280"/>
            </a:xfrm>
            <a:custGeom>
              <a:avLst/>
              <a:gdLst/>
              <a:ahLst/>
              <a:cxnLst/>
              <a:rect r="r" b="b" t="t" l="l"/>
              <a:pathLst>
                <a:path h="3383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383280"/>
                  </a:lnTo>
                  <a:lnTo>
                    <a:pt x="0" y="3383280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37460"/>
            <a:ext cx="18283428" cy="96012"/>
            <a:chOff x="0" y="0"/>
            <a:chExt cx="24377904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2084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75227" y="523865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09060" y="576072"/>
            <a:ext cx="11874627" cy="411480"/>
            <a:chOff x="0" y="0"/>
            <a:chExt cx="1583283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32837" cy="548640"/>
            </a:xfrm>
            <a:custGeom>
              <a:avLst/>
              <a:gdLst/>
              <a:ahLst/>
              <a:cxnLst/>
              <a:rect r="r" b="b" t="t" l="l"/>
              <a:pathLst>
                <a:path h="548640" w="15832837">
                  <a:moveTo>
                    <a:pt x="0" y="0"/>
                  </a:moveTo>
                  <a:lnTo>
                    <a:pt x="15832837" y="0"/>
                  </a:lnTo>
                  <a:lnTo>
                    <a:pt x="1583283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2305" r="0" b="-512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8328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08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09060" y="952500"/>
            <a:ext cx="11874627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 Segmentation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911828" y="1961388"/>
            <a:ext cx="822960" cy="480060"/>
            <a:chOff x="0" y="0"/>
            <a:chExt cx="10972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909060" y="1673352"/>
            <a:ext cx="12207240" cy="617220"/>
            <a:chOff x="0" y="0"/>
            <a:chExt cx="1627632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2763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370" r="0" b="-3353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276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A463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K-Means identifies four potential patient segments</a:t>
              </a: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960120" y="2880360"/>
          <a:ext cx="16306800" cy="3352800"/>
        </p:xfrm>
        <a:graphic>
          <a:graphicData uri="http://schemas.openxmlformats.org/drawingml/2006/table">
            <a:tbl>
              <a:tblPr/>
              <a:tblGrid>
                <a:gridCol w="3152417"/>
                <a:gridCol w="3287843"/>
                <a:gridCol w="2610713"/>
                <a:gridCol w="7255826"/>
              </a:tblGrid>
              <a:tr h="6187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Segment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Patients / admissions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Readmission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Potential intervention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6835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A3E1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Frequent Utilizer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5,560 (13.90%)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A4636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49.44%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Coordinated follow-up and utilization review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35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A3E1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Chronic High Risk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9"/>
                        </a:lnSpc>
                        <a:defRPr/>
                      </a:pPr>
                      <a:r>
                        <a:rPr lang="en-US" sz="19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13,112 (32.78%)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34.40%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Chronic disease management and medication review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</a:tr>
              <a:tr h="6835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A3E1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Moderate Risk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8,087 (20.22%)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27.55%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9"/>
                        </a:lnSpc>
                        <a:defRPr/>
                      </a:pPr>
                      <a:r>
                        <a:rPr lang="en-US" sz="19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Targeted monitoring and follow-up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35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7A3E1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Healthy Recovery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13,241 (33.10%)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18.97%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9"/>
                        </a:lnSpc>
                        <a:defRPr/>
                      </a:pPr>
                      <a:r>
                        <a:rPr lang="en-US" sz="1999">
                          <a:solidFill>
                            <a:srgbClr val="5A4636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Standard discharge guidance and routine follow-up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0D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</a:tr>
            </a:tbl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552144" y="6550279"/>
            <a:ext cx="8431836" cy="3429000"/>
            <a:chOff x="0" y="0"/>
            <a:chExt cx="11242448" cy="457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42448" cy="4572000"/>
            </a:xfrm>
            <a:custGeom>
              <a:avLst/>
              <a:gdLst/>
              <a:ahLst/>
              <a:cxnLst/>
              <a:rect r="r" b="b" t="t" l="l"/>
              <a:pathLst>
                <a:path h="4572000" w="11242448">
                  <a:moveTo>
                    <a:pt x="0" y="182880"/>
                  </a:moveTo>
                  <a:cubicBezTo>
                    <a:pt x="0" y="81915"/>
                    <a:pt x="89923" y="0"/>
                    <a:pt x="200758" y="0"/>
                  </a:cubicBezTo>
                  <a:lnTo>
                    <a:pt x="11041690" y="0"/>
                  </a:lnTo>
                  <a:cubicBezTo>
                    <a:pt x="11152525" y="0"/>
                    <a:pt x="11242448" y="81915"/>
                    <a:pt x="11242448" y="182880"/>
                  </a:cubicBezTo>
                  <a:lnTo>
                    <a:pt x="11242448" y="4389120"/>
                  </a:lnTo>
                  <a:cubicBezTo>
                    <a:pt x="11242448" y="4490085"/>
                    <a:pt x="11152525" y="4572000"/>
                    <a:pt x="11041690" y="4572000"/>
                  </a:cubicBezTo>
                  <a:lnTo>
                    <a:pt x="200758" y="4572000"/>
                  </a:lnTo>
                  <a:cubicBezTo>
                    <a:pt x="89923" y="4572000"/>
                    <a:pt x="0" y="4490085"/>
                    <a:pt x="0" y="4389120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07423" y="5663788"/>
            <a:ext cx="10314799" cy="5156515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 rot="0">
            <a:off x="9395460" y="6505702"/>
            <a:ext cx="8639678" cy="3781298"/>
            <a:chOff x="0" y="0"/>
            <a:chExt cx="11519571" cy="50417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519571" cy="5041731"/>
            </a:xfrm>
            <a:custGeom>
              <a:avLst/>
              <a:gdLst/>
              <a:ahLst/>
              <a:cxnLst/>
              <a:rect r="r" b="b" t="t" l="l"/>
              <a:pathLst>
                <a:path h="5041731" w="11519571">
                  <a:moveTo>
                    <a:pt x="0" y="201669"/>
                  </a:moveTo>
                  <a:cubicBezTo>
                    <a:pt x="0" y="90331"/>
                    <a:pt x="84865" y="0"/>
                    <a:pt x="189467" y="0"/>
                  </a:cubicBezTo>
                  <a:lnTo>
                    <a:pt x="11330105" y="0"/>
                  </a:lnTo>
                  <a:cubicBezTo>
                    <a:pt x="11434706" y="0"/>
                    <a:pt x="11519571" y="90331"/>
                    <a:pt x="11519571" y="201669"/>
                  </a:cubicBezTo>
                  <a:lnTo>
                    <a:pt x="11519571" y="4840062"/>
                  </a:lnTo>
                  <a:cubicBezTo>
                    <a:pt x="11519571" y="4951400"/>
                    <a:pt x="11434706" y="5041731"/>
                    <a:pt x="11330105" y="5041731"/>
                  </a:cubicBezTo>
                  <a:lnTo>
                    <a:pt x="189467" y="5041731"/>
                  </a:lnTo>
                  <a:cubicBezTo>
                    <a:pt x="84865" y="5041731"/>
                    <a:pt x="0" y="4951399"/>
                    <a:pt x="0" y="4840062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656064" y="6661785"/>
            <a:ext cx="781812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validation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56064" y="7080885"/>
            <a:ext cx="781812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6" indent="-190023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K-Means on standardized features across 40,000 admissions.</a:t>
            </a:r>
          </a:p>
          <a:p>
            <a:pPr algn="l" marL="380046" indent="-190023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First three PCA components explain 46.8% of variance.</a:t>
            </a:r>
          </a:p>
          <a:p>
            <a:pPr algn="l" marL="380046" indent="-190023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Hierarchical clustering (2,000-row sample): adjusted Rand index 0.2085 vs K-Means.</a:t>
            </a:r>
          </a:p>
          <a:p>
            <a:pPr algn="l" marL="380046" indent="-190023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Silhouette scores low (~0.10–0.13): limited cluster separation.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56064" y="9033637"/>
            <a:ext cx="781812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7A3E10"/>
                </a:solidFill>
                <a:latin typeface="Alice Bold"/>
                <a:ea typeface="Alice Bold"/>
                <a:cs typeface="Alice Bold"/>
                <a:sym typeface="Alice Bold"/>
              </a:rPr>
              <a:t>Insight: </a:t>
            </a:r>
            <a:r>
              <a:rPr lang="en-US" sz="2299">
                <a:solidFill>
                  <a:srgbClr val="5A4636"/>
                </a:solidFill>
                <a:latin typeface="Alice"/>
                <a:ea typeface="Alice"/>
                <a:cs typeface="Alice"/>
                <a:sym typeface="Alice"/>
              </a:rPr>
              <a:t>Frequent Utilizers have the highest observed readmission rate; clusters are exploratory and need clinical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776408"/>
            <a:chOff x="0" y="0"/>
            <a:chExt cx="24377904" cy="23685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2368544"/>
            </a:xfrm>
            <a:custGeom>
              <a:avLst/>
              <a:gdLst/>
              <a:ahLst/>
              <a:cxnLst/>
              <a:rect r="r" b="b" t="t" l="l"/>
              <a:pathLst>
                <a:path h="236854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368544"/>
                  </a:lnTo>
                  <a:lnTo>
                    <a:pt x="0" y="2368544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" y="1680396"/>
            <a:ext cx="18283428" cy="96012"/>
            <a:chOff x="0" y="0"/>
            <a:chExt cx="24377904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6784" y="178308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869537" y="112385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18504" y="523865"/>
            <a:ext cx="11874627" cy="411480"/>
            <a:chOff x="0" y="0"/>
            <a:chExt cx="1583283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32837" cy="548640"/>
            </a:xfrm>
            <a:custGeom>
              <a:avLst/>
              <a:gdLst/>
              <a:ahLst/>
              <a:cxnLst/>
              <a:rect r="r" b="b" t="t" l="l"/>
              <a:pathLst>
                <a:path h="548640" w="15832837">
                  <a:moveTo>
                    <a:pt x="0" y="0"/>
                  </a:moveTo>
                  <a:lnTo>
                    <a:pt x="15832837" y="0"/>
                  </a:lnTo>
                  <a:lnTo>
                    <a:pt x="1583283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2305" r="0" b="-512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8328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14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798447" y="447665"/>
            <a:ext cx="1187462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NLP Findings: Discharge Summary Assistant</a:t>
            </a:r>
          </a:p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Rule-based Clinical NLP Assistant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847820" y="1200336"/>
            <a:ext cx="822960" cy="480060"/>
            <a:chOff x="0" y="0"/>
            <a:chExt cx="10972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6155" y="2767008"/>
            <a:ext cx="7979093" cy="6058853"/>
            <a:chOff x="0" y="0"/>
            <a:chExt cx="10638790" cy="8078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38790" cy="8078470"/>
            </a:xfrm>
            <a:custGeom>
              <a:avLst/>
              <a:gdLst/>
              <a:ahLst/>
              <a:cxnLst/>
              <a:rect r="r" b="b" t="t" l="l"/>
              <a:pathLst>
                <a:path h="8078470" w="1063879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455148" y="0"/>
                  </a:lnTo>
                  <a:cubicBezTo>
                    <a:pt x="10556621" y="0"/>
                    <a:pt x="10638790" y="82169"/>
                    <a:pt x="10638790" y="183642"/>
                  </a:cubicBezTo>
                  <a:lnTo>
                    <a:pt x="10638790" y="7894828"/>
                  </a:lnTo>
                  <a:cubicBezTo>
                    <a:pt x="10638790" y="7996301"/>
                    <a:pt x="10556621" y="8078470"/>
                    <a:pt x="10455148" y="8078470"/>
                  </a:cubicBezTo>
                  <a:lnTo>
                    <a:pt x="183642" y="8078470"/>
                  </a:lnTo>
                  <a:cubicBezTo>
                    <a:pt x="82169" y="8078470"/>
                    <a:pt x="0" y="7996301"/>
                    <a:pt x="0" y="7894828"/>
                  </a:cubicBezTo>
                  <a:close/>
                </a:path>
              </a:pathLst>
            </a:custGeom>
            <a:solidFill>
              <a:srgbClr val="FFF6EA"/>
            </a:solidFill>
            <a:ln w="23812" cap="sq">
              <a:solidFill>
                <a:srgbClr val="F0DCC0"/>
              </a:solidFill>
              <a:prstDash val="dash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608630" y="2428875"/>
            <a:ext cx="8417272" cy="748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🔸 </a:t>
            </a:r>
            <a:r>
              <a:rPr lang="en-US" sz="2149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Text processing - </a:t>
            </a:r>
          </a:p>
          <a:p>
            <a:pPr algn="l">
              <a:lnSpc>
                <a:spcPts val="2579"/>
              </a:lnSpc>
            </a:pPr>
            <a:r>
              <a:rPr lang="en-US" sz="2149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49">
                <a:solidFill>
                  <a:srgbClr val="7A3E10"/>
                </a:solidFill>
                <a:latin typeface="Calibri (MS)"/>
                <a:ea typeface="Calibri (MS)"/>
                <a:cs typeface="Calibri (MS)"/>
                <a:sym typeface="Calibri (MS)"/>
              </a:rPr>
              <a:t>Section-based parsing of discharge summaries using header detection, alias mapping and sentence segmentation to convert unstructured clinical notes into structured sections.</a:t>
            </a:r>
          </a:p>
          <a:p>
            <a:pPr algn="l">
              <a:lnSpc>
                <a:spcPts val="2579"/>
              </a:lnSpc>
            </a:pPr>
          </a:p>
          <a:p>
            <a:pPr algn="l">
              <a:lnSpc>
                <a:spcPts val="2579"/>
              </a:lnSpc>
            </a:pPr>
          </a:p>
          <a:p>
            <a:pPr algn="l">
              <a:lnSpc>
                <a:spcPts val="2579"/>
              </a:lnSpc>
            </a:pPr>
            <a:r>
              <a:rPr lang="en-US" sz="2149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🔸 M</a:t>
            </a:r>
            <a:r>
              <a:rPr lang="en-US" sz="2149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edication extraction -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7A3E10"/>
                </a:solidFill>
                <a:latin typeface="Calibri (MS)"/>
                <a:ea typeface="Calibri (MS)"/>
                <a:cs typeface="Calibri (MS)"/>
                <a:sym typeface="Calibri (MS)"/>
              </a:rPr>
              <a:t>Regex-based information extraction identifies medication name, dose, route, frequency and status (NEW / CHANGED / STOPPED / CONTINUE) from discharge medication sections.</a:t>
            </a:r>
          </a:p>
          <a:p>
            <a:pPr algn="l">
              <a:lnSpc>
                <a:spcPts val="2579"/>
              </a:lnSpc>
            </a:pPr>
          </a:p>
          <a:p>
            <a:pPr algn="l">
              <a:lnSpc>
                <a:spcPts val="2579"/>
              </a:lnSpc>
            </a:pPr>
          </a:p>
          <a:p>
            <a:pPr algn="l">
              <a:lnSpc>
                <a:spcPts val="2579"/>
              </a:lnSpc>
            </a:pPr>
            <a:r>
              <a:rPr lang="en-US" sz="2149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🔸 Clinical summarization -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7A3E10"/>
                </a:solidFill>
                <a:latin typeface="Calibri (MS)"/>
                <a:ea typeface="Calibri (MS)"/>
                <a:cs typeface="Calibri (MS)"/>
                <a:sym typeface="Calibri (MS)"/>
              </a:rPr>
              <a:t>TF-IDF sentence ranking combined with clinical keyword weighting (started, stopped, changed, creatinine, culture, discharged) to generate an extractive hospital course summary.</a:t>
            </a:r>
          </a:p>
          <a:p>
            <a:pPr algn="l">
              <a:lnSpc>
                <a:spcPts val="2579"/>
              </a:lnSpc>
            </a:pPr>
          </a:p>
          <a:p>
            <a:pPr algn="l">
              <a:lnSpc>
                <a:spcPts val="2579"/>
              </a:lnSpc>
            </a:pPr>
          </a:p>
          <a:p>
            <a:pPr algn="l">
              <a:lnSpc>
                <a:spcPts val="2579"/>
              </a:lnSpc>
            </a:pPr>
            <a:r>
              <a:rPr lang="en-US" sz="2149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🔸 Key </a:t>
            </a:r>
            <a:r>
              <a:rPr lang="en-US" sz="2149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insight -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7A3E10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extraction of medication changes, follow-up tasks, pending results and warning signs significantly improves discharge note review efficiency</a:t>
            </a:r>
          </a:p>
          <a:p>
            <a:pPr algn="l">
              <a:lnSpc>
                <a:spcPts val="25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36155" y="2700333"/>
            <a:ext cx="7955280" cy="612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Raw </a:t>
            </a: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Discharge Note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↓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Detection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↓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Medication Extraction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↓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Follow-up &amp; Warning Extraction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↓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Clinical Summarization 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(TFIDF Score + Clinical Score)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↓</a:t>
            </a:r>
          </a:p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b="true" sz="33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Clinician Brief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-22698" t="-5064" r="0" b="-50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927580" y="284092"/>
            <a:ext cx="2331720" cy="279635"/>
            <a:chOff x="0" y="0"/>
            <a:chExt cx="3108960" cy="372847"/>
          </a:xfrm>
        </p:grpSpPr>
        <p:sp>
          <p:nvSpPr>
            <p:cNvPr name="Freeform 5" id="5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430503" y="135873"/>
            <a:ext cx="648081" cy="576072"/>
            <a:chOff x="0" y="0"/>
            <a:chExt cx="864108" cy="768096"/>
          </a:xfrm>
        </p:grpSpPr>
        <p:sp>
          <p:nvSpPr>
            <p:cNvPr name="Freeform 7" id="7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0" t="-460" r="0" b="-46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537460"/>
            <a:chOff x="0" y="0"/>
            <a:chExt cx="24377904" cy="338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383280"/>
            </a:xfrm>
            <a:custGeom>
              <a:avLst/>
              <a:gdLst/>
              <a:ahLst/>
              <a:cxnLst/>
              <a:rect r="r" b="b" t="t" l="l"/>
              <a:pathLst>
                <a:path h="3383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383280"/>
                  </a:lnTo>
                  <a:lnTo>
                    <a:pt x="0" y="3383280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37460"/>
            <a:ext cx="18283428" cy="96012"/>
            <a:chOff x="0" y="0"/>
            <a:chExt cx="24377904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2084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75227" y="523865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09060" y="576072"/>
            <a:ext cx="11874627" cy="411480"/>
            <a:chOff x="0" y="0"/>
            <a:chExt cx="1583283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32837" cy="548640"/>
            </a:xfrm>
            <a:custGeom>
              <a:avLst/>
              <a:gdLst/>
              <a:ahLst/>
              <a:cxnLst/>
              <a:rect r="r" b="b" t="t" l="l"/>
              <a:pathLst>
                <a:path h="548640" w="15832837">
                  <a:moveTo>
                    <a:pt x="0" y="0"/>
                  </a:moveTo>
                  <a:lnTo>
                    <a:pt x="15832837" y="0"/>
                  </a:lnTo>
                  <a:lnTo>
                    <a:pt x="1583283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2305" r="0" b="-512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8328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16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1961388"/>
            <a:ext cx="822960" cy="480060"/>
            <a:chOff x="0" y="0"/>
            <a:chExt cx="109728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75915" y="2991185"/>
            <a:ext cx="5454396" cy="2774773"/>
            <a:chOff x="0" y="0"/>
            <a:chExt cx="6892701" cy="35064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92700" cy="3506470"/>
            </a:xfrm>
            <a:custGeom>
              <a:avLst/>
              <a:gdLst/>
              <a:ahLst/>
              <a:cxnLst/>
              <a:rect r="r" b="b" t="t" l="l"/>
              <a:pathLst>
                <a:path h="3506470" w="6892700">
                  <a:moveTo>
                    <a:pt x="0" y="140208"/>
                  </a:moveTo>
                  <a:cubicBezTo>
                    <a:pt x="0" y="62738"/>
                    <a:pt x="60723" y="0"/>
                    <a:pt x="135705" y="0"/>
                  </a:cubicBezTo>
                  <a:lnTo>
                    <a:pt x="6756995" y="0"/>
                  </a:lnTo>
                  <a:cubicBezTo>
                    <a:pt x="6831978" y="0"/>
                    <a:pt x="6892700" y="62738"/>
                    <a:pt x="6892700" y="140208"/>
                  </a:cubicBezTo>
                  <a:lnTo>
                    <a:pt x="6892700" y="3366262"/>
                  </a:lnTo>
                  <a:cubicBezTo>
                    <a:pt x="6892700" y="3443732"/>
                    <a:pt x="6831978" y="3506470"/>
                    <a:pt x="6756995" y="3506470"/>
                  </a:cubicBezTo>
                  <a:lnTo>
                    <a:pt x="135705" y="3506470"/>
                  </a:lnTo>
                  <a:cubicBezTo>
                    <a:pt x="60723" y="3506470"/>
                    <a:pt x="0" y="3443732"/>
                    <a:pt x="0" y="3366262"/>
                  </a:cubicBezTo>
                  <a:close/>
                </a:path>
              </a:pathLst>
            </a:custGeom>
            <a:blipFill>
              <a:blip r:embed="rId5"/>
              <a:stretch>
                <a:fillRect l="0" t="-4873" r="0" b="-4873"/>
              </a:stretch>
            </a:blipFill>
            <a:ln w="23812" cap="sq">
              <a:solidFill>
                <a:srgbClr val="F0DCC0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661268" y="5765958"/>
            <a:ext cx="3028162" cy="473480"/>
            <a:chOff x="0" y="0"/>
            <a:chExt cx="6723888" cy="10513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23888" cy="1051334"/>
            </a:xfrm>
            <a:custGeom>
              <a:avLst/>
              <a:gdLst/>
              <a:ahLst/>
              <a:cxnLst/>
              <a:rect r="r" b="b" t="t" l="l"/>
              <a:pathLst>
                <a:path h="1051334" w="6723888">
                  <a:moveTo>
                    <a:pt x="0" y="0"/>
                  </a:moveTo>
                  <a:lnTo>
                    <a:pt x="6723888" y="0"/>
                  </a:lnTo>
                  <a:lnTo>
                    <a:pt x="6723888" y="1051334"/>
                  </a:lnTo>
                  <a:lnTo>
                    <a:pt x="0" y="10513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961" r="0" b="-7027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723888" cy="1089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Overview -1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61304" y="2991185"/>
            <a:ext cx="5522976" cy="2774773"/>
            <a:chOff x="0" y="0"/>
            <a:chExt cx="7121398" cy="35778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21398" cy="3577828"/>
            </a:xfrm>
            <a:custGeom>
              <a:avLst/>
              <a:gdLst/>
              <a:ahLst/>
              <a:cxnLst/>
              <a:rect r="r" b="b" t="t" l="l"/>
              <a:pathLst>
                <a:path h="3577828" w="7121398">
                  <a:moveTo>
                    <a:pt x="0" y="143061"/>
                  </a:moveTo>
                  <a:cubicBezTo>
                    <a:pt x="0" y="64015"/>
                    <a:pt x="62738" y="0"/>
                    <a:pt x="140208" y="0"/>
                  </a:cubicBezTo>
                  <a:lnTo>
                    <a:pt x="6981190" y="0"/>
                  </a:lnTo>
                  <a:cubicBezTo>
                    <a:pt x="7058660" y="0"/>
                    <a:pt x="7121398" y="64015"/>
                    <a:pt x="7121398" y="143061"/>
                  </a:cubicBezTo>
                  <a:lnTo>
                    <a:pt x="7121398" y="3434767"/>
                  </a:lnTo>
                  <a:cubicBezTo>
                    <a:pt x="7121398" y="3513813"/>
                    <a:pt x="7058660" y="3577828"/>
                    <a:pt x="6981190" y="3577828"/>
                  </a:cubicBezTo>
                  <a:lnTo>
                    <a:pt x="140208" y="3577828"/>
                  </a:lnTo>
                  <a:cubicBezTo>
                    <a:pt x="62738" y="3577828"/>
                    <a:pt x="0" y="3513813"/>
                    <a:pt x="0" y="3434767"/>
                  </a:cubicBezTo>
                  <a:close/>
                </a:path>
              </a:pathLst>
            </a:custGeom>
            <a:blipFill>
              <a:blip r:embed="rId6"/>
              <a:stretch>
                <a:fillRect l="0" t="-6465" r="0" b="-6465"/>
              </a:stretch>
            </a:blipFill>
            <a:ln w="23812" cap="sq">
              <a:solidFill>
                <a:srgbClr val="F0DCC0"/>
              </a:solidFill>
              <a:prstDash val="dash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441364" y="5765958"/>
            <a:ext cx="5042916" cy="720004"/>
            <a:chOff x="0" y="0"/>
            <a:chExt cx="6723888" cy="9600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23888" cy="960000"/>
            </a:xfrm>
            <a:custGeom>
              <a:avLst/>
              <a:gdLst/>
              <a:ahLst/>
              <a:cxnLst/>
              <a:rect r="r" b="b" t="t" l="l"/>
              <a:pathLst>
                <a:path h="960000" w="6723888">
                  <a:moveTo>
                    <a:pt x="0" y="0"/>
                  </a:moveTo>
                  <a:lnTo>
                    <a:pt x="6723888" y="0"/>
                  </a:lnTo>
                  <a:lnTo>
                    <a:pt x="6723888" y="960000"/>
                  </a:lnTo>
                  <a:lnTo>
                    <a:pt x="0" y="960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473" r="0" b="-8647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723888" cy="99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Readmission Trends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59093" y="6248551"/>
            <a:ext cx="5632514" cy="2773366"/>
            <a:chOff x="0" y="0"/>
            <a:chExt cx="7121398" cy="35064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21398" cy="3506470"/>
            </a:xfrm>
            <a:custGeom>
              <a:avLst/>
              <a:gdLst/>
              <a:ahLst/>
              <a:cxnLst/>
              <a:rect r="r" b="b" t="t" l="l"/>
              <a:pathLst>
                <a:path h="3506470" w="7121398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lnTo>
                    <a:pt x="6981190" y="0"/>
                  </a:lnTo>
                  <a:cubicBezTo>
                    <a:pt x="7058660" y="0"/>
                    <a:pt x="7121398" y="62738"/>
                    <a:pt x="7121398" y="140208"/>
                  </a:cubicBezTo>
                  <a:lnTo>
                    <a:pt x="7121398" y="3366262"/>
                  </a:lnTo>
                  <a:cubicBezTo>
                    <a:pt x="7121398" y="3443732"/>
                    <a:pt x="7058660" y="3506470"/>
                    <a:pt x="6981190" y="3506470"/>
                  </a:cubicBezTo>
                  <a:lnTo>
                    <a:pt x="140208" y="3506470"/>
                  </a:lnTo>
                  <a:cubicBezTo>
                    <a:pt x="62738" y="3506470"/>
                    <a:pt x="0" y="3443732"/>
                    <a:pt x="0" y="3366262"/>
                  </a:cubicBezTo>
                  <a:close/>
                </a:path>
              </a:pathLst>
            </a:custGeom>
            <a:blipFill>
              <a:blip r:embed="rId7"/>
              <a:stretch>
                <a:fillRect l="0" t="-4735" r="0" b="-4735"/>
              </a:stretch>
            </a:blipFill>
            <a:ln w="23812" cap="sq">
              <a:solidFill>
                <a:srgbClr val="F0DCC0"/>
              </a:solidFill>
              <a:prstDash val="dash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48690" y="9060017"/>
            <a:ext cx="5042916" cy="720004"/>
            <a:chOff x="0" y="0"/>
            <a:chExt cx="6723888" cy="9600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23888" cy="960000"/>
            </a:xfrm>
            <a:custGeom>
              <a:avLst/>
              <a:gdLst/>
              <a:ahLst/>
              <a:cxnLst/>
              <a:rect r="r" b="b" t="t" l="l"/>
              <a:pathLst>
                <a:path h="960000" w="6723888">
                  <a:moveTo>
                    <a:pt x="0" y="0"/>
                  </a:moveTo>
                  <a:lnTo>
                    <a:pt x="6723888" y="0"/>
                  </a:lnTo>
                  <a:lnTo>
                    <a:pt x="6723888" y="960000"/>
                  </a:lnTo>
                  <a:lnTo>
                    <a:pt x="0" y="960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473" r="0" b="-8647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723888" cy="99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Prediction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289262" y="6342133"/>
            <a:ext cx="5341048" cy="2679783"/>
            <a:chOff x="0" y="0"/>
            <a:chExt cx="7121398" cy="35730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21398" cy="3573045"/>
            </a:xfrm>
            <a:custGeom>
              <a:avLst/>
              <a:gdLst/>
              <a:ahLst/>
              <a:cxnLst/>
              <a:rect r="r" b="b" t="t" l="l"/>
              <a:pathLst>
                <a:path h="3573045" w="7121398">
                  <a:moveTo>
                    <a:pt x="0" y="142870"/>
                  </a:moveTo>
                  <a:cubicBezTo>
                    <a:pt x="0" y="63929"/>
                    <a:pt x="62738" y="0"/>
                    <a:pt x="140208" y="0"/>
                  </a:cubicBezTo>
                  <a:lnTo>
                    <a:pt x="6981190" y="0"/>
                  </a:lnTo>
                  <a:cubicBezTo>
                    <a:pt x="7058660" y="0"/>
                    <a:pt x="7121398" y="63929"/>
                    <a:pt x="7121398" y="142870"/>
                  </a:cubicBezTo>
                  <a:lnTo>
                    <a:pt x="7121398" y="3430174"/>
                  </a:lnTo>
                  <a:cubicBezTo>
                    <a:pt x="7121398" y="3509115"/>
                    <a:pt x="7058660" y="3573045"/>
                    <a:pt x="6981190" y="3573045"/>
                  </a:cubicBezTo>
                  <a:lnTo>
                    <a:pt x="140208" y="3573045"/>
                  </a:lnTo>
                  <a:cubicBezTo>
                    <a:pt x="62738" y="3573045"/>
                    <a:pt x="0" y="3509115"/>
                    <a:pt x="0" y="3430174"/>
                  </a:cubicBezTo>
                  <a:close/>
                </a:path>
              </a:pathLst>
            </a:custGeom>
            <a:blipFill>
              <a:blip r:embed="rId8"/>
              <a:stretch>
                <a:fillRect l="0" t="-5223" r="0" b="-5223"/>
              </a:stretch>
            </a:blipFill>
            <a:ln w="23812" cap="sq">
              <a:solidFill>
                <a:srgbClr val="F0DCC0"/>
              </a:solidFill>
              <a:prstDash val="dash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587395" y="9155267"/>
            <a:ext cx="5042916" cy="720004"/>
            <a:chOff x="0" y="0"/>
            <a:chExt cx="6723888" cy="9600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23888" cy="960000"/>
            </a:xfrm>
            <a:custGeom>
              <a:avLst/>
              <a:gdLst/>
              <a:ahLst/>
              <a:cxnLst/>
              <a:rect r="r" b="b" t="t" l="l"/>
              <a:pathLst>
                <a:path h="960000" w="6723888">
                  <a:moveTo>
                    <a:pt x="0" y="0"/>
                  </a:moveTo>
                  <a:lnTo>
                    <a:pt x="6723888" y="0"/>
                  </a:lnTo>
                  <a:lnTo>
                    <a:pt x="6723888" y="960000"/>
                  </a:lnTo>
                  <a:lnTo>
                    <a:pt x="0" y="960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473" r="0" b="-8647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723888" cy="99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Segments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143232" y="6392064"/>
            <a:ext cx="5341048" cy="2629852"/>
            <a:chOff x="0" y="0"/>
            <a:chExt cx="7121398" cy="35064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21398" cy="3506470"/>
            </a:xfrm>
            <a:custGeom>
              <a:avLst/>
              <a:gdLst/>
              <a:ahLst/>
              <a:cxnLst/>
              <a:rect r="r" b="b" t="t" l="l"/>
              <a:pathLst>
                <a:path h="3506470" w="7121398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lnTo>
                    <a:pt x="6981190" y="0"/>
                  </a:lnTo>
                  <a:cubicBezTo>
                    <a:pt x="7058660" y="0"/>
                    <a:pt x="7121398" y="62738"/>
                    <a:pt x="7121398" y="140208"/>
                  </a:cubicBezTo>
                  <a:lnTo>
                    <a:pt x="7121398" y="3366262"/>
                  </a:lnTo>
                  <a:cubicBezTo>
                    <a:pt x="7121398" y="3443732"/>
                    <a:pt x="7058660" y="3506470"/>
                    <a:pt x="6981190" y="3506470"/>
                  </a:cubicBezTo>
                  <a:lnTo>
                    <a:pt x="140208" y="3506470"/>
                  </a:lnTo>
                  <a:cubicBezTo>
                    <a:pt x="62738" y="3506470"/>
                    <a:pt x="0" y="3443732"/>
                    <a:pt x="0" y="3366262"/>
                  </a:cubicBezTo>
                  <a:close/>
                </a:path>
              </a:pathLst>
            </a:custGeom>
            <a:solidFill>
              <a:srgbClr val="FFF6EA"/>
            </a:solidFill>
            <a:ln w="23812" cap="sq">
              <a:solidFill>
                <a:srgbClr val="F0DCC0"/>
              </a:solidFill>
              <a:prstDash val="dash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441364" y="9155267"/>
            <a:ext cx="5042916" cy="720004"/>
            <a:chOff x="0" y="0"/>
            <a:chExt cx="6723888" cy="9600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23888" cy="960000"/>
            </a:xfrm>
            <a:custGeom>
              <a:avLst/>
              <a:gdLst/>
              <a:ahLst/>
              <a:cxnLst/>
              <a:rect r="r" b="b" t="t" l="l"/>
              <a:pathLst>
                <a:path h="960000" w="6723888">
                  <a:moveTo>
                    <a:pt x="0" y="0"/>
                  </a:moveTo>
                  <a:lnTo>
                    <a:pt x="6723888" y="0"/>
                  </a:lnTo>
                  <a:lnTo>
                    <a:pt x="6723888" y="960000"/>
                  </a:lnTo>
                  <a:lnTo>
                    <a:pt x="0" y="960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473" r="0" b="-8647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723888" cy="99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Financial Impact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" y="9869146"/>
            <a:ext cx="16363188" cy="417854"/>
            <a:chOff x="0" y="0"/>
            <a:chExt cx="21817584" cy="55713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817585" cy="557138"/>
            </a:xfrm>
            <a:custGeom>
              <a:avLst/>
              <a:gdLst/>
              <a:ahLst/>
              <a:cxnLst/>
              <a:rect r="r" b="b" t="t" l="l"/>
              <a:pathLst>
                <a:path h="557138" w="21817585">
                  <a:moveTo>
                    <a:pt x="0" y="0"/>
                  </a:moveTo>
                  <a:lnTo>
                    <a:pt x="21817585" y="0"/>
                  </a:lnTo>
                  <a:lnTo>
                    <a:pt x="21817585" y="557138"/>
                  </a:lnTo>
                  <a:lnTo>
                    <a:pt x="0" y="5571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7386" r="0" b="-72868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1817584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Must include - </a:t>
              </a:r>
              <a:r>
                <a:rPr lang="en-US" sz="2100" i="true">
                  <a:solidFill>
                    <a:srgbClr val="A38A6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Star schema · Date table · DAX &amp; time intelligence · Drill-through · Slicers · RLS design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143232" y="6392064"/>
            <a:ext cx="5341048" cy="2629852"/>
            <a:chOff x="0" y="0"/>
            <a:chExt cx="7121398" cy="35064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21398" cy="3506470"/>
            </a:xfrm>
            <a:custGeom>
              <a:avLst/>
              <a:gdLst/>
              <a:ahLst/>
              <a:cxnLst/>
              <a:rect r="r" b="b" t="t" l="l"/>
              <a:pathLst>
                <a:path h="3506470" w="7121398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lnTo>
                    <a:pt x="6981190" y="0"/>
                  </a:lnTo>
                  <a:cubicBezTo>
                    <a:pt x="7058660" y="0"/>
                    <a:pt x="7121398" y="62738"/>
                    <a:pt x="7121398" y="140208"/>
                  </a:cubicBezTo>
                  <a:lnTo>
                    <a:pt x="7121398" y="3366262"/>
                  </a:lnTo>
                  <a:cubicBezTo>
                    <a:pt x="7121398" y="3443732"/>
                    <a:pt x="7058660" y="3506470"/>
                    <a:pt x="6981190" y="3506470"/>
                  </a:cubicBezTo>
                  <a:lnTo>
                    <a:pt x="140208" y="3506470"/>
                  </a:lnTo>
                  <a:cubicBezTo>
                    <a:pt x="62738" y="3506470"/>
                    <a:pt x="0" y="3443732"/>
                    <a:pt x="0" y="3366262"/>
                  </a:cubicBezTo>
                  <a:close/>
                </a:path>
              </a:pathLst>
            </a:custGeom>
            <a:blipFill>
              <a:blip r:embed="rId9"/>
              <a:stretch>
                <a:fillRect l="0" t="-5427" r="0" b="-5427"/>
              </a:stretch>
            </a:blipFill>
            <a:ln w="23812" cap="sq">
              <a:solidFill>
                <a:srgbClr val="F0DCC0"/>
              </a:solidFill>
              <a:prstDash val="dash"/>
              <a:miter/>
            </a:ln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359093" y="2709672"/>
            <a:ext cx="5632514" cy="3088305"/>
          </a:xfrm>
          <a:custGeom>
            <a:avLst/>
            <a:gdLst/>
            <a:ahLst/>
            <a:cxnLst/>
            <a:rect r="r" b="b" t="t" l="l"/>
            <a:pathLst>
              <a:path h="3088305" w="5632514">
                <a:moveTo>
                  <a:pt x="0" y="0"/>
                </a:moveTo>
                <a:lnTo>
                  <a:pt x="5632513" y="0"/>
                </a:lnTo>
                <a:lnTo>
                  <a:pt x="5632513" y="3088305"/>
                </a:lnTo>
                <a:lnTo>
                  <a:pt x="0" y="30883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71" t="0" r="-2171" b="-5374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3909060" y="952500"/>
            <a:ext cx="11874627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Power BI Demonstration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445706" y="5765958"/>
            <a:ext cx="3028162" cy="554635"/>
            <a:chOff x="0" y="0"/>
            <a:chExt cx="6723888" cy="12315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723888" cy="1231532"/>
            </a:xfrm>
            <a:custGeom>
              <a:avLst/>
              <a:gdLst/>
              <a:ahLst/>
              <a:cxnLst/>
              <a:rect r="r" b="b" t="t" l="l"/>
              <a:pathLst>
                <a:path h="1231532" w="6723888">
                  <a:moveTo>
                    <a:pt x="0" y="0"/>
                  </a:moveTo>
                  <a:lnTo>
                    <a:pt x="6723888" y="0"/>
                  </a:lnTo>
                  <a:lnTo>
                    <a:pt x="6723888" y="1231532"/>
                  </a:lnTo>
                  <a:lnTo>
                    <a:pt x="0" y="12315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407" r="0" b="-4535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723888" cy="126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Overview -2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537460"/>
            <a:chOff x="0" y="0"/>
            <a:chExt cx="24377904" cy="338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383280"/>
            </a:xfrm>
            <a:custGeom>
              <a:avLst/>
              <a:gdLst/>
              <a:ahLst/>
              <a:cxnLst/>
              <a:rect r="r" b="b" t="t" l="l"/>
              <a:pathLst>
                <a:path h="3383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383280"/>
                  </a:lnTo>
                  <a:lnTo>
                    <a:pt x="0" y="3383280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37460"/>
            <a:ext cx="18283428" cy="96012"/>
            <a:chOff x="0" y="0"/>
            <a:chExt cx="24377904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2084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75227" y="523865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09060" y="576072"/>
            <a:ext cx="11874627" cy="411480"/>
            <a:chOff x="0" y="0"/>
            <a:chExt cx="1583283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32837" cy="548640"/>
            </a:xfrm>
            <a:custGeom>
              <a:avLst/>
              <a:gdLst/>
              <a:ahLst/>
              <a:cxnLst/>
              <a:rect r="r" b="b" t="t" l="l"/>
              <a:pathLst>
                <a:path h="548640" w="15832837">
                  <a:moveTo>
                    <a:pt x="0" y="0"/>
                  </a:moveTo>
                  <a:lnTo>
                    <a:pt x="15832837" y="0"/>
                  </a:lnTo>
                  <a:lnTo>
                    <a:pt x="1583283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2305" r="0" b="-512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8328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E8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17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09060" y="952500"/>
            <a:ext cx="11874627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Recommendations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911828" y="1961388"/>
            <a:ext cx="822960" cy="480060"/>
            <a:chOff x="0" y="0"/>
            <a:chExt cx="10972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C7A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291840"/>
            <a:ext cx="16363188" cy="1783080"/>
            <a:chOff x="0" y="0"/>
            <a:chExt cx="21817584" cy="2377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817585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817585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21763482" y="0"/>
                  </a:lnTo>
                  <a:cubicBezTo>
                    <a:pt x="21793327" y="0"/>
                    <a:pt x="21817585" y="24257"/>
                    <a:pt x="21817585" y="54102"/>
                  </a:cubicBezTo>
                  <a:lnTo>
                    <a:pt x="21817585" y="2323338"/>
                  </a:lnTo>
                  <a:cubicBezTo>
                    <a:pt x="21817585" y="2353183"/>
                    <a:pt x="21793327" y="2377440"/>
                    <a:pt x="21763482" y="2377440"/>
                  </a:cubicBezTo>
                  <a:lnTo>
                    <a:pt x="54102" y="2377440"/>
                  </a:lnTo>
                  <a:cubicBezTo>
                    <a:pt x="24257" y="2377440"/>
                    <a:pt x="0" y="2353183"/>
                    <a:pt x="0" y="2323338"/>
                  </a:cubicBez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40180" y="3497580"/>
            <a:ext cx="9000001" cy="342900"/>
            <a:chOff x="0" y="0"/>
            <a:chExt cx="12000001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00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000000">
                  <a:moveTo>
                    <a:pt x="0" y="0"/>
                  </a:moveTo>
                  <a:lnTo>
                    <a:pt x="12000000" y="0"/>
                  </a:lnTo>
                  <a:lnTo>
                    <a:pt x="12000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1418" r="0" b="-46141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2000001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QUESTION WE ANSWER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40180" y="3851910"/>
            <a:ext cx="1540306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If Kaiser Permanente invests in patient outreach programs, which patient groups should be targeted first and what interventions are most likely to reduce readmissions?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60120" y="5600700"/>
            <a:ext cx="192024" cy="192024"/>
            <a:chOff x="0" y="0"/>
            <a:chExt cx="256032" cy="2560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40180" y="5429250"/>
            <a:ext cx="1588312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 w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ith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th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ree high-risk 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oups:</a:t>
            </a:r>
            <a:r>
              <a:rPr lang="en-US" sz="2250">
                <a:solidFill>
                  <a:srgbClr val="7A3E10"/>
                </a:solidFill>
                <a:latin typeface="Calibri (MS)"/>
                <a:ea typeface="Calibri (MS)"/>
                <a:cs typeface="Calibri (MS)"/>
                <a:sym typeface="Calibri (MS)"/>
              </a:rPr>
              <a:t> A transitional-care call with a caregiver plan for 80+, home-health or community support for those living alone, and a follow-up visit booked before the patient leaves the hospital.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0120" y="6560820"/>
            <a:ext cx="192024" cy="192024"/>
            <a:chOff x="0" y="0"/>
            <a:chExt cx="256032" cy="2560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40180" y="6389370"/>
            <a:ext cx="1588312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Run condition-s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cific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progra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ms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: Heart-failure nurse calls within days of discharge, chronic disease management with medication review, and a diabetes nurse programme for HbA1c 9+ patients (22.6%).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0120" y="7520940"/>
            <a:ext cx="192024" cy="192024"/>
            <a:chOff x="0" y="0"/>
            <a:chExt cx="256032" cy="2560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40180" y="7349490"/>
            <a:ext cx="1588312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Giv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 each 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gmen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ts 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 care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path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way : </a:t>
            </a:r>
            <a:r>
              <a:rPr lang="en-US" sz="2250">
                <a:solidFill>
                  <a:srgbClr val="7A3E10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Coordinated follow-up and utilization review for Frequent Utilizers, medication review for Chronic High Risk, light monitoring for Moderate Risk, and standard discharge guidance for Healthy Recovery.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60120" y="8481060"/>
            <a:ext cx="192024" cy="192024"/>
            <a:chOff x="0" y="0"/>
            <a:chExt cx="256032" cy="2560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40180" y="8309610"/>
            <a:ext cx="1588312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eplo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 t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 ri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sk m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 safely,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ision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upport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tool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</a:t>
            </a:r>
            <a:r>
              <a:rPr lang="en-US" sz="2250" b="true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nanc</a:t>
            </a:r>
            <a:r>
              <a:rPr lang="en-US" b="true" sz="2250">
                <a:solidFill>
                  <a:srgbClr val="7A3E1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 : </a:t>
            </a:r>
            <a:r>
              <a:rPr lang="en-US" sz="2250">
                <a:solidFill>
                  <a:srgbClr val="7A3E10"/>
                </a:solidFill>
                <a:latin typeface="Calibri (MS)"/>
                <a:ea typeface="Calibri (MS)"/>
                <a:cs typeface="Calibri (MS)"/>
                <a:sym typeface="Calibri (MS)"/>
              </a:rPr>
              <a:t>Assign an owner, require clinician sign-off, and keep audit logs.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E3C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63556"/>
            <a:ext cx="18283428" cy="123444"/>
            <a:chOff x="0" y="0"/>
            <a:chExt cx="24377904" cy="164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64592"/>
            </a:xfrm>
            <a:custGeom>
              <a:avLst/>
              <a:gdLst/>
              <a:ahLst/>
              <a:cxnLst/>
              <a:rect r="r" b="b" t="t" l="l"/>
              <a:pathLst>
                <a:path h="164592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5860" y="1001268"/>
            <a:ext cx="2331720" cy="279635"/>
            <a:chOff x="0" y="0"/>
            <a:chExt cx="3108960" cy="372847"/>
          </a:xfrm>
        </p:grpSpPr>
        <p:sp>
          <p:nvSpPr>
            <p:cNvPr name="Freeform 7" id="7" descr="/home/claude/capstone_template/eta_logo.png"/>
            <p:cNvSpPr/>
            <p:nvPr/>
          </p:nvSpPr>
          <p:spPr>
            <a:xfrm flipH="false" flipV="false" rot="0">
              <a:off x="0" y="0"/>
              <a:ext cx="3108960" cy="372872"/>
            </a:xfrm>
            <a:custGeom>
              <a:avLst/>
              <a:gdLst/>
              <a:ahLst/>
              <a:cxnLst/>
              <a:rect r="r" b="b" t="t" l="l"/>
              <a:pathLst>
                <a:path h="3728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72872"/>
                  </a:lnTo>
                  <a:lnTo>
                    <a:pt x="0" y="372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332327" y="853049"/>
            <a:ext cx="648081" cy="576072"/>
            <a:chOff x="0" y="0"/>
            <a:chExt cx="864108" cy="768096"/>
          </a:xfrm>
        </p:grpSpPr>
        <p:sp>
          <p:nvSpPr>
            <p:cNvPr name="Freeform 9" id="9" descr="/home/claude/capstone_template/wingspan_logo.png"/>
            <p:cNvSpPr/>
            <p:nvPr/>
          </p:nvSpPr>
          <p:spPr>
            <a:xfrm flipH="false" flipV="false" rot="0">
              <a:off x="0" y="0"/>
              <a:ext cx="864108" cy="768096"/>
            </a:xfrm>
            <a:custGeom>
              <a:avLst/>
              <a:gdLst/>
              <a:ahLst/>
              <a:cxnLst/>
              <a:rect r="r" b="b" t="t" l="l"/>
              <a:pathLst>
                <a:path h="768096" w="864108">
                  <a:moveTo>
                    <a:pt x="0" y="0"/>
                  </a:moveTo>
                  <a:lnTo>
                    <a:pt x="864108" y="0"/>
                  </a:lnTo>
                  <a:lnTo>
                    <a:pt x="864108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4389120"/>
            <a:ext cx="15773400" cy="1234440"/>
            <a:chOff x="0" y="0"/>
            <a:chExt cx="2103120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42875"/>
              <a:ext cx="21031200" cy="1788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7A3E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5692140"/>
            <a:ext cx="15773400" cy="685800"/>
            <a:chOff x="0" y="0"/>
            <a:chExt cx="210312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03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9C7A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DAHZKoVPuJU</dc:identifier>
  <dcterms:modified xsi:type="dcterms:W3CDTF">2011-08-01T06:04:30Z</dcterms:modified>
  <cp:revision>1</cp:revision>
  <dc:title>DS_Capstone_Deck_v3_19_slides.pptx</dc:title>
</cp:coreProperties>
</file>